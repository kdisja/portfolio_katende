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One sentence framing: three sources of evidence, all pointing toward rising demand, but not toward the same story about magnitude or cause — my job today is to show how I'd separate signal from noise, govern the data responsibly, and still give you something actionable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card briefly. Key point: these are three different instruments, pointed at three different things — need, general experience, and utilization. The first analytical move is naming that difference explicitly, not averaging them into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move I'd bring in day one. If leadership says demand is up 30 percent, my first question is: up in what — need, demand, or utilization? They're not interchangeable, and only utilization is something the internal data can speak to with real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want leadership to remember. We have a real signal worth acting on, and specific limits on precision and causality that I'd be upfront about rather than paper over — that honesty is what makes the eventual recommendation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artifact I'd actually build in week one — not a merged number, but a documented reference for what each source is, so any comparison made later is honest about its limits. Same governance discipline I've applied to Secure RDC and OCAP-governed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 model keeps us honest about what's a leading indicator versus a real outcome. The three-tier cadence means we're not waiting a full year to notice an operational problem, but we're also not over-reacting to monthly noise in outcome-level measures. Equity is built in throughout — every tier disaggregated by student population, using denominators tied to underlying population, not raw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point I most want to land: this isn't just good evaluation practice in the abstract, it's already required. Guelph has a January 31 deadline every year. I'd build the monitoring rhythm to feed that report naturally, so compliance and continuous improvement are the same activity, not two competing demands on the team's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things the team can start this month, independent of the longer integration work — I don't want leadership to feel stuck waiting for a perfect dataset before acting on a real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structural investments — the point is that good measurement is a standing capability, not a project that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each of these tight — 15-20 seconds per case. Point isn't the story itself, it's that this exact pattern — divergent data, governance, translating to action — is what I already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quote — it's the same closing line from the main interview prep doc, so it's consistent across both parts of the day. Pause after it.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33D"/>
        </a:solidFill>
      </p:bgPr>
    </p:bg>
    <p:spTree>
      <p:nvGrpSpPr>
        <p:cNvPr id="1" name=""/>
        <p:cNvGrpSpPr/>
        <p:nvPr/>
      </p:nvGrpSpPr>
      <p:grpSpPr>
        <a:xfrm>
          <a:off x="0" y="0"/>
          <a:ext cx="0" cy="0"/>
          <a:chOff x="0" y="0"/>
          <a:chExt cx="0" cy="0"/>
        </a:xfrm>
      </p:grpSpPr>
      <p:sp>
        <p:nvSpPr>
          <p:cNvPr id="2" name="Shape 0"/>
          <p:cNvSpPr/>
          <p:nvPr/>
        </p:nvSpPr>
        <p:spPr>
          <a:xfrm>
            <a:off x="640080" y="594360"/>
            <a:ext cx="566928" cy="566928"/>
          </a:xfrm>
          <a:prstGeom prst="ellipse">
            <a:avLst/>
          </a:prstGeom>
          <a:solidFill>
            <a:srgbClr val="6FA98A"/>
          </a:solidFill>
          <a:ln/>
        </p:spPr>
      </p:sp>
      <p:sp>
        <p:nvSpPr>
          <p:cNvPr id="3" name="Text 1"/>
          <p:cNvSpPr txBox="1"/>
          <p:nvPr/>
        </p:nvSpPr>
        <p:spPr>
          <a:xfrm>
            <a:off x="640080" y="5943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DK</a:t>
            </a:r>
            <a:endParaRPr lang="en-US" sz="1800" dirty="0"/>
          </a:p>
        </p:txBody>
      </p:sp>
      <p:sp>
        <p:nvSpPr>
          <p:cNvPr id="4" name="Text 2"/>
          <p:cNvSpPr txBox="1"/>
          <p:nvPr/>
        </p:nvSpPr>
        <p:spPr>
          <a:xfrm>
            <a:off x="1371600" y="658368"/>
            <a:ext cx="8229600" cy="457200"/>
          </a:xfrm>
          <a:prstGeom prst="rect">
            <a:avLst/>
          </a:prstGeom>
          <a:noFill/>
          <a:ln/>
        </p:spPr>
        <p:txBody>
          <a:bodyPr wrap="square" lIns="0" tIns="0" rIns="0" bIns="0" rtlCol="0" anchor="ctr"/>
          <a:lstStyle/>
          <a:p>
            <a:pPr indent="0" marL="0">
              <a:buNone/>
            </a:pPr>
            <a:r>
              <a:rPr lang="en-US" sz="1300" b="1" spc="200" kern="0" dirty="0">
                <a:solidFill>
                  <a:srgbClr val="6FA98A"/>
                </a:solidFill>
                <a:latin typeface="Calibri" pitchFamily="34" charset="0"/>
                <a:ea typeface="Calibri" pitchFamily="34" charset="-122"/>
                <a:cs typeface="Calibri" pitchFamily="34" charset="-120"/>
              </a:rPr>
              <a:t>EVALUATION LEAD &amp; DATA ANALYST — CANDIDATE ASSIGNMENT</a:t>
            </a:r>
            <a:endParaRPr lang="en-US" sz="1300" dirty="0"/>
          </a:p>
        </p:txBody>
      </p:sp>
      <p:sp>
        <p:nvSpPr>
          <p:cNvPr id="5" name="Text 3"/>
          <p:cNvSpPr txBox="1"/>
          <p:nvPr/>
        </p:nvSpPr>
        <p:spPr>
          <a:xfrm>
            <a:off x="640080" y="2286000"/>
            <a:ext cx="10881360" cy="201168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Understanding Student Mental Health</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Demand at Guelph</a:t>
            </a:r>
            <a:endParaRPr lang="en-US" sz="4200" dirty="0"/>
          </a:p>
        </p:txBody>
      </p:sp>
      <p:sp>
        <p:nvSpPr>
          <p:cNvPr id="6" name="Text 4"/>
          <p:cNvSpPr txBox="1"/>
          <p:nvPr/>
        </p:nvSpPr>
        <p:spPr>
          <a:xfrm>
            <a:off x="640080" y="4251960"/>
            <a:ext cx="9601200" cy="548640"/>
          </a:xfrm>
          <a:prstGeom prst="rect">
            <a:avLst/>
          </a:prstGeom>
          <a:noFill/>
          <a:ln/>
        </p:spPr>
        <p:txBody>
          <a:bodyPr wrap="square" lIns="0" tIns="0" rIns="0" bIns="0" rtlCol="0" anchor="ctr"/>
          <a:lstStyle/>
          <a:p>
            <a:pPr indent="0" marL="0">
              <a:buNone/>
            </a:pPr>
            <a:r>
              <a:rPr lang="en-US" sz="1700" i="1" dirty="0">
                <a:solidFill>
                  <a:srgbClr val="B9CFC7"/>
                </a:solidFill>
                <a:latin typeface="Calibri" pitchFamily="34" charset="0"/>
                <a:ea typeface="Calibri" pitchFamily="34" charset="-122"/>
                <a:cs typeface="Calibri" pitchFamily="34" charset="-120"/>
              </a:rPr>
              <a:t>A framework for reading divergent evidence, building governed data, and advising action</a:t>
            </a:r>
            <a:endParaRPr lang="en-US" sz="1700" dirty="0"/>
          </a:p>
        </p:txBody>
      </p:sp>
      <p:sp>
        <p:nvSpPr>
          <p:cNvPr id="7" name="Text 5"/>
          <p:cNvSpPr txBox="1"/>
          <p:nvPr/>
        </p:nvSpPr>
        <p:spPr>
          <a:xfrm>
            <a:off x="640080" y="603504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Disann Katende, MPH</a:t>
            </a:r>
            <a:endParaRPr lang="en-US" sz="1400" dirty="0"/>
          </a:p>
        </p:txBody>
      </p:sp>
      <p:sp>
        <p:nvSpPr>
          <p:cNvPr id="8" name="Text 6"/>
          <p:cNvSpPr txBox="1"/>
          <p:nvPr/>
        </p:nvSpPr>
        <p:spPr>
          <a:xfrm>
            <a:off x="640080" y="6355080"/>
            <a:ext cx="7315200" cy="320040"/>
          </a:xfrm>
          <a:prstGeom prst="rect">
            <a:avLst/>
          </a:prstGeom>
          <a:noFill/>
          <a:ln/>
        </p:spPr>
        <p:txBody>
          <a:bodyPr wrap="square" lIns="0" tIns="0" rIns="0" bIns="0" rtlCol="0" anchor="ctr"/>
          <a:lstStyle/>
          <a:p>
            <a:pPr indent="0" marL="0">
              <a:buNone/>
            </a:pPr>
            <a:r>
              <a:rPr lang="en-US" sz="1100" dirty="0">
                <a:solidFill>
                  <a:srgbClr val="8FA6A0"/>
                </a:solidFill>
                <a:latin typeface="Calibri" pitchFamily="34" charset="0"/>
                <a:ea typeface="Calibri" pitchFamily="34" charset="-122"/>
                <a:cs typeface="Calibri" pitchFamily="34" charset="-120"/>
              </a:rPr>
              <a:t>Prepared for the Selection Committee  |  September 24,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01 — FRAMING THE ISSUE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Three sources, one direction — but not one story</a:t>
            </a:r>
            <a:endParaRPr lang="en-US" sz="3000" dirty="0"/>
          </a:p>
        </p:txBody>
      </p:sp>
      <p:sp>
        <p:nvSpPr>
          <p:cNvPr id="4" name="Text 2"/>
          <p:cNvSpPr txBox="1"/>
          <p:nvPr/>
        </p:nvSpPr>
        <p:spPr>
          <a:xfrm>
            <a:off x="548640" y="1417320"/>
            <a:ext cx="10881360" cy="640080"/>
          </a:xfrm>
          <a:prstGeom prst="rect">
            <a:avLst/>
          </a:prstGeom>
          <a:noFill/>
          <a:ln/>
        </p:spPr>
        <p:txBody>
          <a:bodyPr wrap="square" lIns="0" tIns="0" rIns="0" bIns="0" rtlCol="0" anchor="ctr"/>
          <a:lstStyle/>
          <a:p>
            <a:pPr indent="0" marL="0">
              <a:buNone/>
            </a:pPr>
            <a:r>
              <a:rPr lang="en-US" sz="1450" dirty="0">
                <a:solidFill>
                  <a:srgbClr val="5B6B73"/>
                </a:solidFill>
                <a:latin typeface="Calibri" pitchFamily="34" charset="0"/>
                <a:ea typeface="Calibri" pitchFamily="34" charset="-122"/>
                <a:cs typeface="Calibri" pitchFamily="34" charset="-120"/>
              </a:rPr>
              <a:t>The Canadian Campus Wellbeing Survey, institutional satisfaction data, and internal Student Wellness service data all point toward rising demand. They were never built to be compared to each other directly.</a:t>
            </a:r>
            <a:endParaRPr lang="en-US" sz="1450" dirty="0"/>
          </a:p>
        </p:txBody>
      </p:sp>
      <p:sp>
        <p:nvSpPr>
          <p:cNvPr id="5" name="Shape 3"/>
          <p:cNvSpPr/>
          <p:nvPr/>
        </p:nvSpPr>
        <p:spPr>
          <a:xfrm>
            <a:off x="548640" y="2286000"/>
            <a:ext cx="3429000" cy="3383280"/>
          </a:xfrm>
          <a:prstGeom prst="roundRect">
            <a:avLst>
              <a:gd name="adj" fmla="val 2162"/>
            </a:avLst>
          </a:prstGeom>
          <a:solidFill>
            <a:srgbClr val="F3F7F6"/>
          </a:solidFill>
          <a:ln/>
        </p:spPr>
      </p:sp>
      <p:sp>
        <p:nvSpPr>
          <p:cNvPr id="6" name="Shape 4"/>
          <p:cNvSpPr/>
          <p:nvPr/>
        </p:nvSpPr>
        <p:spPr>
          <a:xfrm>
            <a:off x="822960" y="2560320"/>
            <a:ext cx="640080" cy="640080"/>
          </a:xfrm>
          <a:prstGeom prst="ellipse">
            <a:avLst/>
          </a:prstGeom>
          <a:solidFill>
            <a:srgbClr val="50808E"/>
          </a:solidFill>
          <a:ln/>
        </p:spPr>
      </p:sp>
      <p:sp>
        <p:nvSpPr>
          <p:cNvPr id="7" name="Text 5"/>
          <p:cNvSpPr txBox="1"/>
          <p:nvPr/>
        </p:nvSpPr>
        <p:spPr>
          <a:xfrm>
            <a:off x="822960" y="256032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CCWS</a:t>
            </a:r>
            <a:endParaRPr lang="en-US" sz="1500" dirty="0"/>
          </a:p>
        </p:txBody>
      </p:sp>
      <p:sp>
        <p:nvSpPr>
          <p:cNvPr id="8" name="Text 6"/>
          <p:cNvSpPr txBox="1"/>
          <p:nvPr/>
        </p:nvSpPr>
        <p:spPr>
          <a:xfrm>
            <a:off x="822960" y="3383280"/>
            <a:ext cx="2880360" cy="685800"/>
          </a:xfrm>
          <a:prstGeom prst="rect">
            <a:avLst/>
          </a:prstGeom>
          <a:noFill/>
          <a:ln/>
        </p:spPr>
        <p:txBody>
          <a:bodyPr wrap="square" lIns="0" tIns="0" rIns="0" bIns="0" rtlCol="0" anchor="ctr"/>
          <a:lstStyle/>
          <a:p>
            <a:pPr indent="0" marL="0">
              <a:buNone/>
            </a:pPr>
            <a:r>
              <a:rPr lang="en-US" sz="1550" b="1" dirty="0">
                <a:solidFill>
                  <a:srgbClr val="24333D"/>
                </a:solidFill>
                <a:latin typeface="Cambria" pitchFamily="34" charset="0"/>
                <a:ea typeface="Cambria" pitchFamily="34" charset="-122"/>
                <a:cs typeface="Cambria" pitchFamily="34" charset="-120"/>
              </a:rPr>
              <a:t>Canadian Campus Wellbeing Survey</a:t>
            </a:r>
            <a:endParaRPr lang="en-US" sz="1550" dirty="0"/>
          </a:p>
        </p:txBody>
      </p:sp>
      <p:sp>
        <p:nvSpPr>
          <p:cNvPr id="9" name="Text 7"/>
          <p:cNvSpPr txBox="1"/>
          <p:nvPr/>
        </p:nvSpPr>
        <p:spPr>
          <a:xfrm>
            <a:off x="822960" y="4069080"/>
            <a:ext cx="2880360" cy="123444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Population-representative self-report survey. Guelph moved to it from the NCHA in 2025, under Ontario's Minister's Directive on Student Mental Health.</a:t>
            </a:r>
            <a:endParaRPr lang="en-US" sz="1150" dirty="0"/>
          </a:p>
        </p:txBody>
      </p:sp>
      <p:sp>
        <p:nvSpPr>
          <p:cNvPr id="10" name="Text 8"/>
          <p:cNvSpPr txBox="1"/>
          <p:nvPr/>
        </p:nvSpPr>
        <p:spPr>
          <a:xfrm>
            <a:off x="822960" y="5166360"/>
            <a:ext cx="2880360" cy="365760"/>
          </a:xfrm>
          <a:prstGeom prst="rect">
            <a:avLst/>
          </a:prstGeom>
          <a:noFill/>
          <a:ln/>
        </p:spPr>
        <p:txBody>
          <a:bodyPr wrap="square" lIns="0" tIns="0" rIns="0" bIns="0" rtlCol="0" anchor="ctr"/>
          <a:lstStyle/>
          <a:p>
            <a:pPr indent="0" marL="0">
              <a:buNone/>
            </a:pPr>
            <a:r>
              <a:rPr lang="en-US" sz="1100" b="1" i="1" dirty="0">
                <a:solidFill>
                  <a:srgbClr val="6FA98A"/>
                </a:solidFill>
                <a:latin typeface="Calibri" pitchFamily="34" charset="0"/>
                <a:ea typeface="Calibri" pitchFamily="34" charset="-122"/>
                <a:cs typeface="Calibri" pitchFamily="34" charset="-120"/>
              </a:rPr>
              <a:t>Measures: self-reported need &amp; wellbeing</a:t>
            </a:r>
            <a:endParaRPr lang="en-US" sz="1100" dirty="0"/>
          </a:p>
        </p:txBody>
      </p:sp>
      <p:sp>
        <p:nvSpPr>
          <p:cNvPr id="11" name="Shape 9"/>
          <p:cNvSpPr/>
          <p:nvPr/>
        </p:nvSpPr>
        <p:spPr>
          <a:xfrm>
            <a:off x="4251960" y="2286000"/>
            <a:ext cx="3429000" cy="3383280"/>
          </a:xfrm>
          <a:prstGeom prst="roundRect">
            <a:avLst>
              <a:gd name="adj" fmla="val 2162"/>
            </a:avLst>
          </a:prstGeom>
          <a:solidFill>
            <a:srgbClr val="F3F7F6"/>
          </a:solidFill>
          <a:ln/>
        </p:spPr>
      </p:sp>
      <p:sp>
        <p:nvSpPr>
          <p:cNvPr id="12" name="Shape 10"/>
          <p:cNvSpPr/>
          <p:nvPr/>
        </p:nvSpPr>
        <p:spPr>
          <a:xfrm>
            <a:off x="4526280" y="2560320"/>
            <a:ext cx="640080" cy="640080"/>
          </a:xfrm>
          <a:prstGeom prst="ellipse">
            <a:avLst/>
          </a:prstGeom>
          <a:solidFill>
            <a:srgbClr val="50808E"/>
          </a:solidFill>
          <a:ln/>
        </p:spPr>
      </p:sp>
      <p:sp>
        <p:nvSpPr>
          <p:cNvPr id="13" name="Text 11"/>
          <p:cNvSpPr txBox="1"/>
          <p:nvPr/>
        </p:nvSpPr>
        <p:spPr>
          <a:xfrm>
            <a:off x="4526280" y="256032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ISD</a:t>
            </a:r>
            <a:endParaRPr lang="en-US" sz="1500" dirty="0"/>
          </a:p>
        </p:txBody>
      </p:sp>
      <p:sp>
        <p:nvSpPr>
          <p:cNvPr id="14" name="Text 12"/>
          <p:cNvSpPr txBox="1"/>
          <p:nvPr/>
        </p:nvSpPr>
        <p:spPr>
          <a:xfrm>
            <a:off x="4526280" y="3383280"/>
            <a:ext cx="2880360" cy="685800"/>
          </a:xfrm>
          <a:prstGeom prst="rect">
            <a:avLst/>
          </a:prstGeom>
          <a:noFill/>
          <a:ln/>
        </p:spPr>
        <p:txBody>
          <a:bodyPr wrap="square" lIns="0" tIns="0" rIns="0" bIns="0" rtlCol="0" anchor="ctr"/>
          <a:lstStyle/>
          <a:p>
            <a:pPr indent="0" marL="0">
              <a:buNone/>
            </a:pPr>
            <a:r>
              <a:rPr lang="en-US" sz="1550" b="1" dirty="0">
                <a:solidFill>
                  <a:srgbClr val="24333D"/>
                </a:solidFill>
                <a:latin typeface="Cambria" pitchFamily="34" charset="0"/>
                <a:ea typeface="Cambria" pitchFamily="34" charset="-122"/>
                <a:cs typeface="Cambria" pitchFamily="34" charset="-120"/>
              </a:rPr>
              <a:t>Institutional Satisfaction Data</a:t>
            </a:r>
            <a:endParaRPr lang="en-US" sz="1550" dirty="0"/>
          </a:p>
        </p:txBody>
      </p:sp>
      <p:sp>
        <p:nvSpPr>
          <p:cNvPr id="15" name="Text 13"/>
          <p:cNvSpPr txBox="1"/>
          <p:nvPr/>
        </p:nvSpPr>
        <p:spPr>
          <a:xfrm>
            <a:off x="4526280" y="4069080"/>
            <a:ext cx="2880360" cy="123444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General student-experience survey, not wellness-specific. Broader population, different questions, different cadence.</a:t>
            </a:r>
            <a:endParaRPr lang="en-US" sz="1150" dirty="0"/>
          </a:p>
        </p:txBody>
      </p:sp>
      <p:sp>
        <p:nvSpPr>
          <p:cNvPr id="16" name="Text 14"/>
          <p:cNvSpPr txBox="1"/>
          <p:nvPr/>
        </p:nvSpPr>
        <p:spPr>
          <a:xfrm>
            <a:off x="4526280" y="5166360"/>
            <a:ext cx="2880360" cy="365760"/>
          </a:xfrm>
          <a:prstGeom prst="rect">
            <a:avLst/>
          </a:prstGeom>
          <a:noFill/>
          <a:ln/>
        </p:spPr>
        <p:txBody>
          <a:bodyPr wrap="square" lIns="0" tIns="0" rIns="0" bIns="0" rtlCol="0" anchor="ctr"/>
          <a:lstStyle/>
          <a:p>
            <a:pPr indent="0" marL="0">
              <a:buNone/>
            </a:pPr>
            <a:r>
              <a:rPr lang="en-US" sz="1100" b="1" i="1" dirty="0">
                <a:solidFill>
                  <a:srgbClr val="6FA98A"/>
                </a:solidFill>
                <a:latin typeface="Calibri" pitchFamily="34" charset="0"/>
                <a:ea typeface="Calibri" pitchFamily="34" charset="-122"/>
                <a:cs typeface="Calibri" pitchFamily="34" charset="-120"/>
              </a:rPr>
              <a:t>Measures: general experience, indirectly</a:t>
            </a:r>
            <a:endParaRPr lang="en-US" sz="1100" dirty="0"/>
          </a:p>
        </p:txBody>
      </p:sp>
      <p:sp>
        <p:nvSpPr>
          <p:cNvPr id="17" name="Shape 15"/>
          <p:cNvSpPr/>
          <p:nvPr/>
        </p:nvSpPr>
        <p:spPr>
          <a:xfrm>
            <a:off x="7955280" y="2286000"/>
            <a:ext cx="3429000" cy="3383280"/>
          </a:xfrm>
          <a:prstGeom prst="roundRect">
            <a:avLst>
              <a:gd name="adj" fmla="val 2162"/>
            </a:avLst>
          </a:prstGeom>
          <a:solidFill>
            <a:srgbClr val="F3F7F6"/>
          </a:solidFill>
          <a:ln/>
        </p:spPr>
      </p:sp>
      <p:sp>
        <p:nvSpPr>
          <p:cNvPr id="18" name="Shape 16"/>
          <p:cNvSpPr/>
          <p:nvPr/>
        </p:nvSpPr>
        <p:spPr>
          <a:xfrm>
            <a:off x="8229600" y="2560320"/>
            <a:ext cx="640080" cy="640080"/>
          </a:xfrm>
          <a:prstGeom prst="ellipse">
            <a:avLst/>
          </a:prstGeom>
          <a:solidFill>
            <a:srgbClr val="50808E"/>
          </a:solidFill>
          <a:ln/>
        </p:spPr>
      </p:sp>
      <p:sp>
        <p:nvSpPr>
          <p:cNvPr id="19" name="Text 17"/>
          <p:cNvSpPr txBox="1"/>
          <p:nvPr/>
        </p:nvSpPr>
        <p:spPr>
          <a:xfrm>
            <a:off x="8229600" y="256032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SWD</a:t>
            </a:r>
            <a:endParaRPr lang="en-US" sz="1500" dirty="0"/>
          </a:p>
        </p:txBody>
      </p:sp>
      <p:sp>
        <p:nvSpPr>
          <p:cNvPr id="20" name="Text 18"/>
          <p:cNvSpPr txBox="1"/>
          <p:nvPr/>
        </p:nvSpPr>
        <p:spPr>
          <a:xfrm>
            <a:off x="8229600" y="3383280"/>
            <a:ext cx="2880360" cy="685800"/>
          </a:xfrm>
          <a:prstGeom prst="rect">
            <a:avLst/>
          </a:prstGeom>
          <a:noFill/>
          <a:ln/>
        </p:spPr>
        <p:txBody>
          <a:bodyPr wrap="square" lIns="0" tIns="0" rIns="0" bIns="0" rtlCol="0" anchor="ctr"/>
          <a:lstStyle/>
          <a:p>
            <a:pPr indent="0" marL="0">
              <a:buNone/>
            </a:pPr>
            <a:r>
              <a:rPr lang="en-US" sz="1550" b="1" dirty="0">
                <a:solidFill>
                  <a:srgbClr val="24333D"/>
                </a:solidFill>
                <a:latin typeface="Cambria" pitchFamily="34" charset="0"/>
                <a:ea typeface="Cambria" pitchFamily="34" charset="-122"/>
                <a:cs typeface="Cambria" pitchFamily="34" charset="-120"/>
              </a:rPr>
              <a:t>Student Wellness Service Data</a:t>
            </a:r>
            <a:endParaRPr lang="en-US" sz="1550" dirty="0"/>
          </a:p>
        </p:txBody>
      </p:sp>
      <p:sp>
        <p:nvSpPr>
          <p:cNvPr id="21" name="Text 19"/>
          <p:cNvSpPr txBox="1"/>
          <p:nvPr/>
        </p:nvSpPr>
        <p:spPr>
          <a:xfrm>
            <a:off x="8229600" y="4069080"/>
            <a:ext cx="2880360" cy="123444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Administrative records of visits, wait times, referrals — precise, but only sees students who already sought and received service.</a:t>
            </a:r>
            <a:endParaRPr lang="en-US" sz="1150" dirty="0"/>
          </a:p>
        </p:txBody>
      </p:sp>
      <p:sp>
        <p:nvSpPr>
          <p:cNvPr id="22" name="Text 20"/>
          <p:cNvSpPr txBox="1"/>
          <p:nvPr/>
        </p:nvSpPr>
        <p:spPr>
          <a:xfrm>
            <a:off x="8229600" y="5166360"/>
            <a:ext cx="2880360" cy="365760"/>
          </a:xfrm>
          <a:prstGeom prst="rect">
            <a:avLst/>
          </a:prstGeom>
          <a:noFill/>
          <a:ln/>
        </p:spPr>
        <p:txBody>
          <a:bodyPr wrap="square" lIns="0" tIns="0" rIns="0" bIns="0" rtlCol="0" anchor="ctr"/>
          <a:lstStyle/>
          <a:p>
            <a:pPr indent="0" marL="0">
              <a:buNone/>
            </a:pPr>
            <a:r>
              <a:rPr lang="en-US" sz="1100" b="1" i="1" dirty="0">
                <a:solidFill>
                  <a:srgbClr val="6FA98A"/>
                </a:solidFill>
                <a:latin typeface="Calibri" pitchFamily="34" charset="0"/>
                <a:ea typeface="Calibri" pitchFamily="34" charset="-122"/>
                <a:cs typeface="Calibri" pitchFamily="34" charset="-120"/>
              </a:rPr>
              <a:t>Measures: utilization, not need</a:t>
            </a:r>
            <a:endParaRPr lang="en-US" sz="1100" dirty="0"/>
          </a:p>
        </p:txBody>
      </p:sp>
      <p:sp>
        <p:nvSpPr>
          <p:cNvPr id="23" name="Text 21"/>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01 — FRAMING THE ISSUE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The core distinction: need, demand, and utilization</a:t>
            </a:r>
            <a:endParaRPr lang="en-US" sz="3000" dirty="0"/>
          </a:p>
        </p:txBody>
      </p:sp>
      <p:sp>
        <p:nvSpPr>
          <p:cNvPr id="4" name="Text 2"/>
          <p:cNvSpPr txBox="1"/>
          <p:nvPr/>
        </p:nvSpPr>
        <p:spPr>
          <a:xfrm>
            <a:off x="548640" y="1417320"/>
            <a:ext cx="10881360" cy="548640"/>
          </a:xfrm>
          <a:prstGeom prst="rect">
            <a:avLst/>
          </a:prstGeom>
          <a:noFill/>
          <a:ln/>
        </p:spPr>
        <p:txBody>
          <a:bodyPr wrap="square" lIns="0" tIns="0" rIns="0" bIns="0" rtlCol="0" anchor="ctr"/>
          <a:lstStyle/>
          <a:p>
            <a:pPr indent="0" marL="0">
              <a:buNone/>
            </a:pPr>
            <a:r>
              <a:rPr lang="en-US" sz="1450" dirty="0">
                <a:solidFill>
                  <a:srgbClr val="5B6B73"/>
                </a:solidFill>
                <a:latin typeface="Calibri" pitchFamily="34" charset="0"/>
                <a:ea typeface="Calibri" pitchFamily="34" charset="-122"/>
                <a:cs typeface="Calibri" pitchFamily="34" charset="-120"/>
              </a:rPr>
              <a:t>“Demand increased” conflates three different quantities. Each dataset speaks to a different one — and only one of them is fully visible in the data we have today.</a:t>
            </a:r>
            <a:endParaRPr lang="en-US" sz="1450" dirty="0"/>
          </a:p>
        </p:txBody>
      </p:sp>
      <p:sp>
        <p:nvSpPr>
          <p:cNvPr id="5" name="Shape 3"/>
          <p:cNvSpPr/>
          <p:nvPr/>
        </p:nvSpPr>
        <p:spPr>
          <a:xfrm>
            <a:off x="548640" y="2240280"/>
            <a:ext cx="10881360" cy="1371600"/>
          </a:xfrm>
          <a:prstGeom prst="roundRect">
            <a:avLst>
              <a:gd name="adj" fmla="val 4000"/>
            </a:avLst>
          </a:prstGeom>
          <a:solidFill>
            <a:srgbClr val="F3F7F6"/>
          </a:solidFill>
          <a:ln/>
        </p:spPr>
      </p:sp>
      <p:sp>
        <p:nvSpPr>
          <p:cNvPr id="6" name="Shape 4"/>
          <p:cNvSpPr/>
          <p:nvPr/>
        </p:nvSpPr>
        <p:spPr>
          <a:xfrm>
            <a:off x="749808" y="2532888"/>
            <a:ext cx="786384" cy="786384"/>
          </a:xfrm>
          <a:prstGeom prst="ellipse">
            <a:avLst/>
          </a:prstGeom>
          <a:solidFill>
            <a:srgbClr val="6FA98A"/>
          </a:solidFill>
          <a:ln/>
        </p:spPr>
      </p:sp>
      <p:sp>
        <p:nvSpPr>
          <p:cNvPr id="7" name="Text 5"/>
          <p:cNvSpPr txBox="1"/>
          <p:nvPr/>
        </p:nvSpPr>
        <p:spPr>
          <a:xfrm>
            <a:off x="749808" y="2532888"/>
            <a:ext cx="786384" cy="786384"/>
          </a:xfrm>
          <a:prstGeom prst="rect">
            <a:avLst/>
          </a:prstGeom>
          <a:noFill/>
          <a:ln/>
        </p:spPr>
        <p:txBody>
          <a:bodyPr wrap="square" lIns="254" tIns="254" rIns="254" bIns="254"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NEED</a:t>
            </a:r>
            <a:endParaRPr lang="en-US" sz="1050" dirty="0"/>
          </a:p>
        </p:txBody>
      </p:sp>
      <p:sp>
        <p:nvSpPr>
          <p:cNvPr id="8" name="Text 6"/>
          <p:cNvSpPr txBox="1"/>
          <p:nvPr/>
        </p:nvSpPr>
        <p:spPr>
          <a:xfrm>
            <a:off x="1737360" y="2404872"/>
            <a:ext cx="5120640" cy="1042416"/>
          </a:xfrm>
          <a:prstGeom prst="rect">
            <a:avLst/>
          </a:prstGeom>
          <a:noFill/>
          <a:ln/>
        </p:spPr>
        <p:txBody>
          <a:bodyPr wrap="square" lIns="0" tIns="0" rIns="0" bIns="0" rtlCol="0" anchor="ctr"/>
          <a:lstStyle/>
          <a:p>
            <a:pPr indent="0" marL="0">
              <a:buNone/>
            </a:pPr>
            <a:r>
              <a:rPr lang="en-US" sz="1250" dirty="0">
                <a:solidFill>
                  <a:srgbClr val="24333D"/>
                </a:solidFill>
                <a:latin typeface="Calibri" pitchFamily="34" charset="0"/>
                <a:ea typeface="Calibri" pitchFamily="34" charset="-122"/>
                <a:cs typeface="Calibri" pitchFamily="34" charset="-120"/>
              </a:rPr>
              <a:t>The underlying prevalence of mental health concerns across the whole student population, including students who never seek help.</a:t>
            </a:r>
            <a:endParaRPr lang="en-US" sz="1250" dirty="0"/>
          </a:p>
        </p:txBody>
      </p:sp>
      <p:sp>
        <p:nvSpPr>
          <p:cNvPr id="9" name="Text 7"/>
          <p:cNvSpPr txBox="1"/>
          <p:nvPr/>
        </p:nvSpPr>
        <p:spPr>
          <a:xfrm>
            <a:off x="7040880" y="2404872"/>
            <a:ext cx="4206240" cy="1042416"/>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Best proxied by CCWS — but only at the population level, and not every student responds.</a:t>
            </a:r>
            <a:endParaRPr lang="en-US" sz="1150" dirty="0"/>
          </a:p>
        </p:txBody>
      </p:sp>
      <p:sp>
        <p:nvSpPr>
          <p:cNvPr id="10" name="Shape 8"/>
          <p:cNvSpPr/>
          <p:nvPr/>
        </p:nvSpPr>
        <p:spPr>
          <a:xfrm>
            <a:off x="548640" y="3813048"/>
            <a:ext cx="10881360" cy="1371600"/>
          </a:xfrm>
          <a:prstGeom prst="roundRect">
            <a:avLst>
              <a:gd name="adj" fmla="val 4000"/>
            </a:avLst>
          </a:prstGeom>
          <a:solidFill>
            <a:srgbClr val="F3F7F6"/>
          </a:solidFill>
          <a:ln/>
        </p:spPr>
      </p:sp>
      <p:sp>
        <p:nvSpPr>
          <p:cNvPr id="11" name="Shape 9"/>
          <p:cNvSpPr/>
          <p:nvPr/>
        </p:nvSpPr>
        <p:spPr>
          <a:xfrm>
            <a:off x="749808" y="4105656"/>
            <a:ext cx="786384" cy="786384"/>
          </a:xfrm>
          <a:prstGeom prst="ellipse">
            <a:avLst/>
          </a:prstGeom>
          <a:solidFill>
            <a:srgbClr val="50808E"/>
          </a:solidFill>
          <a:ln/>
        </p:spPr>
      </p:sp>
      <p:sp>
        <p:nvSpPr>
          <p:cNvPr id="12" name="Text 10"/>
          <p:cNvSpPr txBox="1"/>
          <p:nvPr/>
        </p:nvSpPr>
        <p:spPr>
          <a:xfrm>
            <a:off x="749808" y="4105656"/>
            <a:ext cx="786384" cy="786384"/>
          </a:xfrm>
          <a:prstGeom prst="rect">
            <a:avLst/>
          </a:prstGeom>
          <a:noFill/>
          <a:ln/>
        </p:spPr>
        <p:txBody>
          <a:bodyPr wrap="square" lIns="254" tIns="254" rIns="254" bIns="254"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DEMAND</a:t>
            </a:r>
            <a:endParaRPr lang="en-US" sz="1050" dirty="0"/>
          </a:p>
        </p:txBody>
      </p:sp>
      <p:sp>
        <p:nvSpPr>
          <p:cNvPr id="13" name="Text 11"/>
          <p:cNvSpPr txBox="1"/>
          <p:nvPr/>
        </p:nvSpPr>
        <p:spPr>
          <a:xfrm>
            <a:off x="1737360" y="3977640"/>
            <a:ext cx="5120640" cy="1042416"/>
          </a:xfrm>
          <a:prstGeom prst="rect">
            <a:avLst/>
          </a:prstGeom>
          <a:noFill/>
          <a:ln/>
        </p:spPr>
        <p:txBody>
          <a:bodyPr wrap="square" lIns="0" tIns="0" rIns="0" bIns="0" rtlCol="0" anchor="ctr"/>
          <a:lstStyle/>
          <a:p>
            <a:pPr indent="0" marL="0">
              <a:buNone/>
            </a:pPr>
            <a:r>
              <a:rPr lang="en-US" sz="1250" dirty="0">
                <a:solidFill>
                  <a:srgbClr val="24333D"/>
                </a:solidFill>
                <a:latin typeface="Calibri" pitchFamily="34" charset="0"/>
                <a:ea typeface="Calibri" pitchFamily="34" charset="-122"/>
                <a:cs typeface="Calibri" pitchFamily="34" charset="-120"/>
              </a:rPr>
              <a:t>Students actively trying to access support — visible in referral patterns, wait lists, and self-reported help-seeking.</a:t>
            </a:r>
            <a:endParaRPr lang="en-US" sz="1250" dirty="0"/>
          </a:p>
        </p:txBody>
      </p:sp>
      <p:sp>
        <p:nvSpPr>
          <p:cNvPr id="14" name="Text 12"/>
          <p:cNvSpPr txBox="1"/>
          <p:nvPr/>
        </p:nvSpPr>
        <p:spPr>
          <a:xfrm>
            <a:off x="7040880" y="3977640"/>
            <a:ext cx="4206240" cy="1042416"/>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Partially visible in Student Wellness data; partially inferred from CCWS help-seeking items.</a:t>
            </a:r>
            <a:endParaRPr lang="en-US" sz="1150" dirty="0"/>
          </a:p>
        </p:txBody>
      </p:sp>
      <p:sp>
        <p:nvSpPr>
          <p:cNvPr id="15" name="Shape 13"/>
          <p:cNvSpPr/>
          <p:nvPr/>
        </p:nvSpPr>
        <p:spPr>
          <a:xfrm>
            <a:off x="548640" y="5385816"/>
            <a:ext cx="10881360" cy="1371600"/>
          </a:xfrm>
          <a:prstGeom prst="roundRect">
            <a:avLst>
              <a:gd name="adj" fmla="val 4000"/>
            </a:avLst>
          </a:prstGeom>
          <a:solidFill>
            <a:srgbClr val="F3F7F6"/>
          </a:solidFill>
          <a:ln/>
        </p:spPr>
      </p:sp>
      <p:sp>
        <p:nvSpPr>
          <p:cNvPr id="16" name="Shape 14"/>
          <p:cNvSpPr/>
          <p:nvPr/>
        </p:nvSpPr>
        <p:spPr>
          <a:xfrm>
            <a:off x="749808" y="5678424"/>
            <a:ext cx="786384" cy="786384"/>
          </a:xfrm>
          <a:prstGeom prst="ellipse">
            <a:avLst/>
          </a:prstGeom>
          <a:solidFill>
            <a:srgbClr val="B85042"/>
          </a:solidFill>
          <a:ln/>
        </p:spPr>
      </p:sp>
      <p:sp>
        <p:nvSpPr>
          <p:cNvPr id="17" name="Text 15"/>
          <p:cNvSpPr txBox="1"/>
          <p:nvPr/>
        </p:nvSpPr>
        <p:spPr>
          <a:xfrm>
            <a:off x="749808" y="5678424"/>
            <a:ext cx="786384" cy="786384"/>
          </a:xfrm>
          <a:prstGeom prst="rect">
            <a:avLst/>
          </a:prstGeom>
          <a:noFill/>
          <a:ln/>
        </p:spPr>
        <p:txBody>
          <a:bodyPr wrap="square" lIns="254" tIns="254" rIns="254" bIns="254" rtlCol="0" anchor="ctr"/>
          <a:lstStyle/>
          <a:p>
            <a:pPr algn="ctr" indent="0" marL="0">
              <a:buNone/>
            </a:pPr>
            <a:r>
              <a:rPr lang="en-US" sz="850" b="1" dirty="0">
                <a:solidFill>
                  <a:srgbClr val="FFFFFF"/>
                </a:solidFill>
                <a:latin typeface="Cambria" pitchFamily="34" charset="0"/>
                <a:ea typeface="Cambria" pitchFamily="34" charset="-122"/>
                <a:cs typeface="Cambria" pitchFamily="34" charset="-120"/>
              </a:rPr>
              <a:t>UTILIZATION</a:t>
            </a:r>
            <a:endParaRPr lang="en-US" sz="850" dirty="0"/>
          </a:p>
        </p:txBody>
      </p:sp>
      <p:sp>
        <p:nvSpPr>
          <p:cNvPr id="18" name="Text 16"/>
          <p:cNvSpPr txBox="1"/>
          <p:nvPr/>
        </p:nvSpPr>
        <p:spPr>
          <a:xfrm>
            <a:off x="1737360" y="5550408"/>
            <a:ext cx="5120640" cy="1042416"/>
          </a:xfrm>
          <a:prstGeom prst="rect">
            <a:avLst/>
          </a:prstGeom>
          <a:noFill/>
          <a:ln/>
        </p:spPr>
        <p:txBody>
          <a:bodyPr wrap="square" lIns="0" tIns="0" rIns="0" bIns="0" rtlCol="0" anchor="ctr"/>
          <a:lstStyle/>
          <a:p>
            <a:pPr indent="0" marL="0">
              <a:buNone/>
            </a:pPr>
            <a:r>
              <a:rPr lang="en-US" sz="1250" dirty="0">
                <a:solidFill>
                  <a:srgbClr val="24333D"/>
                </a:solidFill>
                <a:latin typeface="Calibri" pitchFamily="34" charset="0"/>
                <a:ea typeface="Calibri" pitchFamily="34" charset="-122"/>
                <a:cs typeface="Calibri" pitchFamily="34" charset="-120"/>
              </a:rPr>
              <a:t>Students who successfully received service — visits, unique students served, completed episodes of care.</a:t>
            </a:r>
            <a:endParaRPr lang="en-US" sz="1250" dirty="0"/>
          </a:p>
        </p:txBody>
      </p:sp>
      <p:sp>
        <p:nvSpPr>
          <p:cNvPr id="19" name="Text 17"/>
          <p:cNvSpPr txBox="1"/>
          <p:nvPr/>
        </p:nvSpPr>
        <p:spPr>
          <a:xfrm>
            <a:off x="7040880" y="5550408"/>
            <a:ext cx="4206240" cy="1042416"/>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Fully visible in Student Wellness administrative data.</a:t>
            </a:r>
            <a:endParaRPr lang="en-US" sz="1150" dirty="0"/>
          </a:p>
        </p:txBody>
      </p:sp>
      <p:sp>
        <p:nvSpPr>
          <p:cNvPr id="20" name="Text 18"/>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333D"/>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6FA98A"/>
                </a:solidFill>
                <a:latin typeface="Calibri" pitchFamily="34" charset="0"/>
                <a:ea typeface="Calibri" pitchFamily="34" charset="-122"/>
                <a:cs typeface="Calibri" pitchFamily="34" charset="-120"/>
              </a:rPr>
              <a:t>01 — FRAMING THE ISSUE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evidence can — and cannot — support</a:t>
            </a:r>
            <a:endParaRPr lang="en-US" sz="3000" dirty="0"/>
          </a:p>
        </p:txBody>
      </p:sp>
      <p:sp>
        <p:nvSpPr>
          <p:cNvPr id="4" name="Shape 2"/>
          <p:cNvSpPr/>
          <p:nvPr/>
        </p:nvSpPr>
        <p:spPr>
          <a:xfrm>
            <a:off x="548640" y="1691640"/>
            <a:ext cx="5257800" cy="4480560"/>
          </a:xfrm>
          <a:prstGeom prst="roundRect">
            <a:avLst>
              <a:gd name="adj" fmla="val 1633"/>
            </a:avLst>
          </a:prstGeom>
          <a:solidFill>
            <a:srgbClr val="EFF6F2"/>
          </a:solidFill>
          <a:ln/>
        </p:spPr>
      </p:sp>
      <p:sp>
        <p:nvSpPr>
          <p:cNvPr id="5" name="Shape 3"/>
          <p:cNvSpPr/>
          <p:nvPr/>
        </p:nvSpPr>
        <p:spPr>
          <a:xfrm>
            <a:off x="868680" y="1965960"/>
            <a:ext cx="502920" cy="502920"/>
          </a:xfrm>
          <a:prstGeom prst="ellipse">
            <a:avLst/>
          </a:prstGeom>
          <a:solidFill>
            <a:srgbClr val="6FA98A"/>
          </a:solidFill>
          <a:ln/>
        </p:spPr>
      </p:sp>
      <p:sp>
        <p:nvSpPr>
          <p:cNvPr id="6" name="Text 4"/>
          <p:cNvSpPr txBox="1"/>
          <p:nvPr/>
        </p:nvSpPr>
        <p:spPr>
          <a:xfrm>
            <a:off x="86868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7" name="Text 5"/>
          <p:cNvSpPr txBox="1"/>
          <p:nvPr/>
        </p:nvSpPr>
        <p:spPr>
          <a:xfrm>
            <a:off x="1554480" y="1965960"/>
            <a:ext cx="3840480" cy="502920"/>
          </a:xfrm>
          <a:prstGeom prst="rect">
            <a:avLst/>
          </a:prstGeom>
          <a:noFill/>
          <a:ln/>
        </p:spPr>
        <p:txBody>
          <a:bodyPr wrap="square" lIns="0" tIns="0" rIns="0" bIns="0" rtlCol="0" anchor="ctr"/>
          <a:lstStyle/>
          <a:p>
            <a:pPr indent="0" marL="0">
              <a:buNone/>
            </a:pPr>
            <a:r>
              <a:rPr lang="en-US" sz="1700" b="1" dirty="0">
                <a:solidFill>
                  <a:srgbClr val="24333D"/>
                </a:solidFill>
                <a:latin typeface="Cambria" pitchFamily="34" charset="0"/>
                <a:ea typeface="Cambria" pitchFamily="34" charset="-122"/>
                <a:cs typeface="Cambria" pitchFamily="34" charset="-120"/>
              </a:rPr>
              <a:t>CAN CONCLUDE</a:t>
            </a:r>
            <a:endParaRPr lang="en-US" sz="1700" dirty="0"/>
          </a:p>
        </p:txBody>
      </p:sp>
      <p:sp>
        <p:nvSpPr>
          <p:cNvPr id="8" name="Text 6"/>
          <p:cNvSpPr txBox="1"/>
          <p:nvPr/>
        </p:nvSpPr>
        <p:spPr>
          <a:xfrm>
            <a:off x="868680" y="2697480"/>
            <a:ext cx="4617720" cy="1051560"/>
          </a:xfrm>
          <a:prstGeom prst="rect">
            <a:avLst/>
          </a:prstGeom>
          <a:noFill/>
          <a:ln/>
        </p:spPr>
        <p:txBody>
          <a:bodyPr wrap="square" lIns="0" tIns="0" rIns="0" bIns="0" rtlCol="0" anchor="ctr"/>
          <a:lstStyle/>
          <a:p>
            <a:pPr marL="342900" indent="-342900">
              <a:buSzPct val="100000"/>
              <a:buChar char="•"/>
            </a:pPr>
            <a:r>
              <a:rPr lang="en-US" sz="1200" dirty="0">
                <a:solidFill>
                  <a:srgbClr val="24333D"/>
                </a:solidFill>
                <a:latin typeface="Calibri" pitchFamily="34" charset="0"/>
                <a:ea typeface="Calibri" pitchFamily="34" charset="-122"/>
                <a:cs typeface="Calibri" pitchFamily="34" charset="-120"/>
              </a:rPr>
              <a:t>The rise is a real, convergent signal — three independent sources agree on direction.</a:t>
            </a:r>
            <a:endParaRPr lang="en-US" sz="1200" dirty="0"/>
          </a:p>
        </p:txBody>
      </p:sp>
      <p:sp>
        <p:nvSpPr>
          <p:cNvPr id="9" name="Text 7"/>
          <p:cNvSpPr txBox="1"/>
          <p:nvPr/>
        </p:nvSpPr>
        <p:spPr>
          <a:xfrm>
            <a:off x="868680" y="3813048"/>
            <a:ext cx="4617720" cy="1051560"/>
          </a:xfrm>
          <a:prstGeom prst="rect">
            <a:avLst/>
          </a:prstGeom>
          <a:noFill/>
          <a:ln/>
        </p:spPr>
        <p:txBody>
          <a:bodyPr wrap="square" lIns="0" tIns="0" rIns="0" bIns="0" rtlCol="0" anchor="ctr"/>
          <a:lstStyle/>
          <a:p>
            <a:pPr marL="342900" indent="-342900">
              <a:buSzPct val="100000"/>
              <a:buChar char="•"/>
            </a:pPr>
            <a:r>
              <a:rPr lang="en-US" sz="1200" dirty="0">
                <a:solidFill>
                  <a:srgbClr val="24333D"/>
                </a:solidFill>
                <a:latin typeface="Calibri" pitchFamily="34" charset="0"/>
                <a:ea typeface="Calibri" pitchFamily="34" charset="-122"/>
                <a:cs typeface="Calibri" pitchFamily="34" charset="-120"/>
              </a:rPr>
              <a:t>Utilization trends (visits, wait times) are precise and trustworthy as descriptions of service activity.</a:t>
            </a:r>
            <a:endParaRPr lang="en-US" sz="1200" dirty="0"/>
          </a:p>
        </p:txBody>
      </p:sp>
      <p:sp>
        <p:nvSpPr>
          <p:cNvPr id="10" name="Text 8"/>
          <p:cNvSpPr txBox="1"/>
          <p:nvPr/>
        </p:nvSpPr>
        <p:spPr>
          <a:xfrm>
            <a:off x="868680" y="4928616"/>
            <a:ext cx="4617720" cy="1051560"/>
          </a:xfrm>
          <a:prstGeom prst="rect">
            <a:avLst/>
          </a:prstGeom>
          <a:noFill/>
          <a:ln/>
        </p:spPr>
        <p:txBody>
          <a:bodyPr wrap="square" lIns="0" tIns="0" rIns="0" bIns="0" rtlCol="0" anchor="ctr"/>
          <a:lstStyle/>
          <a:p>
            <a:pPr marL="342900" indent="-342900">
              <a:buSzPct val="100000"/>
              <a:buChar char="•"/>
            </a:pPr>
            <a:r>
              <a:rPr lang="en-US" sz="1200" dirty="0">
                <a:solidFill>
                  <a:srgbClr val="24333D"/>
                </a:solidFill>
                <a:latin typeface="Calibri" pitchFamily="34" charset="0"/>
                <a:ea typeface="Calibri" pitchFamily="34" charset="-122"/>
                <a:cs typeface="Calibri" pitchFamily="34" charset="-120"/>
              </a:rPr>
              <a:t>There is enough evidence to justify immediate operational attention.</a:t>
            </a:r>
            <a:endParaRPr lang="en-US" sz="1200" dirty="0"/>
          </a:p>
        </p:txBody>
      </p:sp>
      <p:sp>
        <p:nvSpPr>
          <p:cNvPr id="11" name="Shape 9"/>
          <p:cNvSpPr/>
          <p:nvPr/>
        </p:nvSpPr>
        <p:spPr>
          <a:xfrm>
            <a:off x="6355080" y="1691640"/>
            <a:ext cx="5257800" cy="4480560"/>
          </a:xfrm>
          <a:prstGeom prst="roundRect">
            <a:avLst>
              <a:gd name="adj" fmla="val 1633"/>
            </a:avLst>
          </a:prstGeom>
          <a:solidFill>
            <a:srgbClr val="FBEFED"/>
          </a:solidFill>
          <a:ln/>
        </p:spPr>
      </p:sp>
      <p:sp>
        <p:nvSpPr>
          <p:cNvPr id="12" name="Shape 10"/>
          <p:cNvSpPr/>
          <p:nvPr/>
        </p:nvSpPr>
        <p:spPr>
          <a:xfrm>
            <a:off x="6675120" y="1965960"/>
            <a:ext cx="502920" cy="502920"/>
          </a:xfrm>
          <a:prstGeom prst="ellipse">
            <a:avLst/>
          </a:prstGeom>
          <a:solidFill>
            <a:srgbClr val="B85042"/>
          </a:solidFill>
          <a:ln/>
        </p:spPr>
      </p:sp>
      <p:sp>
        <p:nvSpPr>
          <p:cNvPr id="13" name="Text 11"/>
          <p:cNvSpPr txBox="1"/>
          <p:nvPr/>
        </p:nvSpPr>
        <p:spPr>
          <a:xfrm>
            <a:off x="667512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txBox="1"/>
          <p:nvPr/>
        </p:nvSpPr>
        <p:spPr>
          <a:xfrm>
            <a:off x="7360920" y="1965960"/>
            <a:ext cx="3840480" cy="502920"/>
          </a:xfrm>
          <a:prstGeom prst="rect">
            <a:avLst/>
          </a:prstGeom>
          <a:noFill/>
          <a:ln/>
        </p:spPr>
        <p:txBody>
          <a:bodyPr wrap="square" lIns="0" tIns="0" rIns="0" bIns="0" rtlCol="0" anchor="ctr"/>
          <a:lstStyle/>
          <a:p>
            <a:pPr indent="0" marL="0">
              <a:buNone/>
            </a:pPr>
            <a:r>
              <a:rPr lang="en-US" sz="1700" b="1" dirty="0">
                <a:solidFill>
                  <a:srgbClr val="24333D"/>
                </a:solidFill>
                <a:latin typeface="Cambria" pitchFamily="34" charset="0"/>
                <a:ea typeface="Cambria" pitchFamily="34" charset="-122"/>
                <a:cs typeface="Cambria" pitchFamily="34" charset="-120"/>
              </a:rPr>
              <a:t>CANNOT CONCLUDE</a:t>
            </a:r>
            <a:endParaRPr lang="en-US" sz="1700" dirty="0"/>
          </a:p>
        </p:txBody>
      </p:sp>
      <p:sp>
        <p:nvSpPr>
          <p:cNvPr id="15" name="Text 13"/>
          <p:cNvSpPr txBox="1"/>
          <p:nvPr/>
        </p:nvSpPr>
        <p:spPr>
          <a:xfrm>
            <a:off x="6675120" y="2697480"/>
            <a:ext cx="4617720" cy="1051560"/>
          </a:xfrm>
          <a:prstGeom prst="rect">
            <a:avLst/>
          </a:prstGeom>
          <a:noFill/>
          <a:ln/>
        </p:spPr>
        <p:txBody>
          <a:bodyPr wrap="square" lIns="0" tIns="0" rIns="0" bIns="0" rtlCol="0" anchor="ctr"/>
          <a:lstStyle/>
          <a:p>
            <a:pPr marL="342900" indent="-342900">
              <a:buSzPct val="100000"/>
              <a:buChar char="•"/>
            </a:pPr>
            <a:r>
              <a:rPr lang="en-US" sz="1200" dirty="0">
                <a:solidFill>
                  <a:srgbClr val="24333D"/>
                </a:solidFill>
                <a:latin typeface="Calibri" pitchFamily="34" charset="0"/>
                <a:ea typeface="Calibri" pitchFamily="34" charset="-122"/>
                <a:cs typeface="Calibri" pitchFamily="34" charset="-120"/>
              </a:rPr>
              <a:t>A single precise magnitude — NCHA→CCWS's 2025 methodology change breaks direct trend comparability.</a:t>
            </a:r>
            <a:endParaRPr lang="en-US" sz="1200" dirty="0"/>
          </a:p>
        </p:txBody>
      </p:sp>
      <p:sp>
        <p:nvSpPr>
          <p:cNvPr id="16" name="Text 14"/>
          <p:cNvSpPr txBox="1"/>
          <p:nvPr/>
        </p:nvSpPr>
        <p:spPr>
          <a:xfrm>
            <a:off x="6675120" y="3813048"/>
            <a:ext cx="4617720" cy="1051560"/>
          </a:xfrm>
          <a:prstGeom prst="rect">
            <a:avLst/>
          </a:prstGeom>
          <a:noFill/>
          <a:ln/>
        </p:spPr>
        <p:txBody>
          <a:bodyPr wrap="square" lIns="0" tIns="0" rIns="0" bIns="0" rtlCol="0" anchor="ctr"/>
          <a:lstStyle/>
          <a:p>
            <a:pPr marL="342900" indent="-342900">
              <a:buSzPct val="100000"/>
              <a:buChar char="•"/>
            </a:pPr>
            <a:r>
              <a:rPr lang="en-US" sz="1200" dirty="0">
                <a:solidFill>
                  <a:srgbClr val="24333D"/>
                </a:solidFill>
                <a:latin typeface="Calibri" pitchFamily="34" charset="0"/>
                <a:ea typeface="Calibri" pitchFamily="34" charset="-122"/>
                <a:cs typeface="Calibri" pitchFamily="34" charset="-120"/>
              </a:rPr>
              <a:t>A causal driver — rising need, more help-seeking, reduced stigma, and service changes are all consistent with the same trend.</a:t>
            </a:r>
            <a:endParaRPr lang="en-US" sz="1200" dirty="0"/>
          </a:p>
        </p:txBody>
      </p:sp>
      <p:sp>
        <p:nvSpPr>
          <p:cNvPr id="17" name="Text 15"/>
          <p:cNvSpPr txBox="1"/>
          <p:nvPr/>
        </p:nvSpPr>
        <p:spPr>
          <a:xfrm>
            <a:off x="6675120" y="4928616"/>
            <a:ext cx="4617720" cy="1051560"/>
          </a:xfrm>
          <a:prstGeom prst="rect">
            <a:avLst/>
          </a:prstGeom>
          <a:noFill/>
          <a:ln/>
        </p:spPr>
        <p:txBody>
          <a:bodyPr wrap="square" lIns="0" tIns="0" rIns="0" bIns="0" rtlCol="0" anchor="ctr"/>
          <a:lstStyle/>
          <a:p>
            <a:pPr marL="342900" indent="-342900">
              <a:buSzPct val="100000"/>
              <a:buChar char="•"/>
            </a:pPr>
            <a:r>
              <a:rPr lang="en-US" sz="1200" dirty="0">
                <a:solidFill>
                  <a:srgbClr val="24333D"/>
                </a:solidFill>
                <a:latin typeface="Calibri" pitchFamily="34" charset="0"/>
                <a:ea typeface="Calibri" pitchFamily="34" charset="-122"/>
                <a:cs typeface="Calibri" pitchFamily="34" charset="-120"/>
              </a:rPr>
              <a:t>Which populations are most affected — response bias and administrative blind spots limit that claim today.</a:t>
            </a:r>
            <a:endParaRPr lang="en-US" sz="1200" dirty="0"/>
          </a:p>
        </p:txBody>
      </p:sp>
      <p:sp>
        <p:nvSpPr>
          <p:cNvPr id="18" name="Text 16"/>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02 — DATA INTEGRATION, QUALITY &amp; GOVERNANCE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Build a lineage table before building a number</a:t>
            </a:r>
            <a:endParaRPr lang="en-US" sz="3000" dirty="0"/>
          </a:p>
        </p:txBody>
      </p:sp>
      <p:sp>
        <p:nvSpPr>
          <p:cNvPr id="4" name="Text 2"/>
          <p:cNvSpPr txBox="1"/>
          <p:nvPr/>
        </p:nvSpPr>
        <p:spPr>
          <a:xfrm>
            <a:off x="548640" y="1417320"/>
            <a:ext cx="10881360" cy="685800"/>
          </a:xfrm>
          <a:prstGeom prst="rect">
            <a:avLst/>
          </a:prstGeom>
          <a:noFill/>
          <a:ln/>
        </p:spPr>
        <p:txBody>
          <a:bodyPr wrap="square" lIns="0" tIns="0" rIns="0" bIns="0" rtlCol="0" anchor="ctr"/>
          <a:lstStyle/>
          <a:p>
            <a:pPr indent="0" marL="0">
              <a:buNone/>
            </a:pPr>
            <a:r>
              <a:rPr lang="en-US" sz="1400" dirty="0">
                <a:solidFill>
                  <a:srgbClr val="5B6B73"/>
                </a:solidFill>
                <a:latin typeface="Calibri" pitchFamily="34" charset="0"/>
                <a:ea typeface="Calibri" pitchFamily="34" charset="-122"/>
                <a:cs typeface="Calibri" pitchFamily="34" charset="-120"/>
              </a:rPr>
              <a:t>I would not merge these three sources into a single headline figure. I'd first build an explicit reference table documenting what each source actually is — then apply the same validation discipline I use with any linked dataset.</a:t>
            </a:r>
            <a:endParaRPr lang="en-US" sz="1400" dirty="0"/>
          </a:p>
        </p:txBody>
      </p:sp>
      <p:sp>
        <p:nvSpPr>
          <p:cNvPr id="5" name="Shape 3"/>
          <p:cNvSpPr/>
          <p:nvPr/>
        </p:nvSpPr>
        <p:spPr>
          <a:xfrm>
            <a:off x="548640" y="2331720"/>
            <a:ext cx="2468880" cy="457200"/>
          </a:xfrm>
          <a:prstGeom prst="rect">
            <a:avLst/>
          </a:prstGeom>
          <a:solidFill>
            <a:srgbClr val="24333D"/>
          </a:solidFill>
          <a:ln/>
        </p:spPr>
      </p:sp>
      <p:sp>
        <p:nvSpPr>
          <p:cNvPr id="6" name="Text 4"/>
          <p:cNvSpPr txBox="1"/>
          <p:nvPr/>
        </p:nvSpPr>
        <p:spPr>
          <a:xfrm>
            <a:off x="658368" y="2331720"/>
            <a:ext cx="22860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7" name="Shape 5"/>
          <p:cNvSpPr/>
          <p:nvPr/>
        </p:nvSpPr>
        <p:spPr>
          <a:xfrm>
            <a:off x="3200400" y="2331720"/>
            <a:ext cx="2834640" cy="457200"/>
          </a:xfrm>
          <a:prstGeom prst="rect">
            <a:avLst/>
          </a:prstGeom>
          <a:solidFill>
            <a:srgbClr val="24333D"/>
          </a:solidFill>
          <a:ln/>
        </p:spPr>
      </p:sp>
      <p:sp>
        <p:nvSpPr>
          <p:cNvPr id="8" name="Text 6"/>
          <p:cNvSpPr txBox="1"/>
          <p:nvPr/>
        </p:nvSpPr>
        <p:spPr>
          <a:xfrm>
            <a:off x="3310128" y="2331720"/>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Population</a:t>
            </a:r>
            <a:endParaRPr lang="en-US" sz="1200" dirty="0"/>
          </a:p>
        </p:txBody>
      </p:sp>
      <p:sp>
        <p:nvSpPr>
          <p:cNvPr id="9" name="Shape 7"/>
          <p:cNvSpPr/>
          <p:nvPr/>
        </p:nvSpPr>
        <p:spPr>
          <a:xfrm>
            <a:off x="6217920" y="2331720"/>
            <a:ext cx="3017520" cy="457200"/>
          </a:xfrm>
          <a:prstGeom prst="rect">
            <a:avLst/>
          </a:prstGeom>
          <a:solidFill>
            <a:srgbClr val="24333D"/>
          </a:solidFill>
          <a:ln/>
        </p:spPr>
      </p:sp>
      <p:sp>
        <p:nvSpPr>
          <p:cNvPr id="10" name="Text 8"/>
          <p:cNvSpPr txBox="1"/>
          <p:nvPr/>
        </p:nvSpPr>
        <p:spPr>
          <a:xfrm>
            <a:off x="6327648" y="2331720"/>
            <a:ext cx="28346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p>
        </p:txBody>
      </p:sp>
      <p:sp>
        <p:nvSpPr>
          <p:cNvPr id="11" name="Shape 9"/>
          <p:cNvSpPr/>
          <p:nvPr/>
        </p:nvSpPr>
        <p:spPr>
          <a:xfrm>
            <a:off x="9418320" y="2331720"/>
            <a:ext cx="2103120" cy="457200"/>
          </a:xfrm>
          <a:prstGeom prst="rect">
            <a:avLst/>
          </a:prstGeom>
          <a:solidFill>
            <a:srgbClr val="24333D"/>
          </a:solidFill>
          <a:ln/>
        </p:spPr>
      </p:sp>
      <p:sp>
        <p:nvSpPr>
          <p:cNvPr id="12" name="Text 10"/>
          <p:cNvSpPr txBox="1"/>
          <p:nvPr/>
        </p:nvSpPr>
        <p:spPr>
          <a:xfrm>
            <a:off x="9528048" y="233172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p>
        </p:txBody>
      </p:sp>
      <p:sp>
        <p:nvSpPr>
          <p:cNvPr id="13" name="Shape 11"/>
          <p:cNvSpPr/>
          <p:nvPr/>
        </p:nvSpPr>
        <p:spPr>
          <a:xfrm>
            <a:off x="548640" y="2788920"/>
            <a:ext cx="10972800" cy="685800"/>
          </a:xfrm>
          <a:prstGeom prst="rect">
            <a:avLst/>
          </a:prstGeom>
          <a:solidFill>
            <a:srgbClr val="F3F7F6"/>
          </a:solidFill>
          <a:ln/>
        </p:spPr>
      </p:sp>
      <p:sp>
        <p:nvSpPr>
          <p:cNvPr id="14" name="Text 12"/>
          <p:cNvSpPr txBox="1"/>
          <p:nvPr/>
        </p:nvSpPr>
        <p:spPr>
          <a:xfrm>
            <a:off x="658368" y="2788920"/>
            <a:ext cx="2286000" cy="685800"/>
          </a:xfrm>
          <a:prstGeom prst="rect">
            <a:avLst/>
          </a:prstGeom>
          <a:noFill/>
          <a:ln/>
        </p:spPr>
        <p:txBody>
          <a:bodyPr wrap="square" lIns="0" tIns="0" rIns="0" bIns="0" rtlCol="0" anchor="ctr"/>
          <a:lstStyle/>
          <a:p>
            <a:pPr indent="0" marL="0">
              <a:buNone/>
            </a:pPr>
            <a:r>
              <a:rPr lang="en-US" sz="1100" b="1" dirty="0">
                <a:solidFill>
                  <a:srgbClr val="24333D"/>
                </a:solidFill>
                <a:latin typeface="Calibri" pitchFamily="34" charset="0"/>
                <a:ea typeface="Calibri" pitchFamily="34" charset="-122"/>
                <a:cs typeface="Calibri" pitchFamily="34" charset="-120"/>
              </a:rPr>
              <a:t>CCWS</a:t>
            </a:r>
            <a:endParaRPr lang="en-US" sz="1100" dirty="0"/>
          </a:p>
        </p:txBody>
      </p:sp>
      <p:sp>
        <p:nvSpPr>
          <p:cNvPr id="15" name="Text 13"/>
          <p:cNvSpPr txBox="1"/>
          <p:nvPr/>
        </p:nvSpPr>
        <p:spPr>
          <a:xfrm>
            <a:off x="3310128" y="2788920"/>
            <a:ext cx="265176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Sampled students, self-report</a:t>
            </a:r>
            <a:endParaRPr lang="en-US" sz="1100" dirty="0"/>
          </a:p>
        </p:txBody>
      </p:sp>
      <p:sp>
        <p:nvSpPr>
          <p:cNvPr id="16" name="Text 14"/>
          <p:cNvSpPr txBox="1"/>
          <p:nvPr/>
        </p:nvSpPr>
        <p:spPr>
          <a:xfrm>
            <a:off x="6327648" y="2788920"/>
            <a:ext cx="283464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Self-reported wellbeing/need items</a:t>
            </a:r>
            <a:endParaRPr lang="en-US" sz="1100" dirty="0"/>
          </a:p>
        </p:txBody>
      </p:sp>
      <p:sp>
        <p:nvSpPr>
          <p:cNvPr id="17" name="Text 15"/>
          <p:cNvSpPr txBox="1"/>
          <p:nvPr/>
        </p:nvSpPr>
        <p:spPr>
          <a:xfrm>
            <a:off x="9528048" y="2788920"/>
            <a:ext cx="192024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2025 cycle (new instrument)</a:t>
            </a:r>
            <a:endParaRPr lang="en-US" sz="1100" dirty="0"/>
          </a:p>
        </p:txBody>
      </p:sp>
      <p:sp>
        <p:nvSpPr>
          <p:cNvPr id="18" name="Shape 16"/>
          <p:cNvSpPr/>
          <p:nvPr/>
        </p:nvSpPr>
        <p:spPr>
          <a:xfrm>
            <a:off x="548640" y="3474720"/>
            <a:ext cx="10972800" cy="685800"/>
          </a:xfrm>
          <a:prstGeom prst="rect">
            <a:avLst/>
          </a:prstGeom>
          <a:solidFill>
            <a:srgbClr val="FFFFFF"/>
          </a:solidFill>
          <a:ln/>
        </p:spPr>
      </p:sp>
      <p:sp>
        <p:nvSpPr>
          <p:cNvPr id="19" name="Text 17"/>
          <p:cNvSpPr txBox="1"/>
          <p:nvPr/>
        </p:nvSpPr>
        <p:spPr>
          <a:xfrm>
            <a:off x="658368" y="3474720"/>
            <a:ext cx="2286000" cy="685800"/>
          </a:xfrm>
          <a:prstGeom prst="rect">
            <a:avLst/>
          </a:prstGeom>
          <a:noFill/>
          <a:ln/>
        </p:spPr>
        <p:txBody>
          <a:bodyPr wrap="square" lIns="0" tIns="0" rIns="0" bIns="0" rtlCol="0" anchor="ctr"/>
          <a:lstStyle/>
          <a:p>
            <a:pPr indent="0" marL="0">
              <a:buNone/>
            </a:pPr>
            <a:r>
              <a:rPr lang="en-US" sz="1100" b="1" dirty="0">
                <a:solidFill>
                  <a:srgbClr val="24333D"/>
                </a:solidFill>
                <a:latin typeface="Calibri" pitchFamily="34" charset="0"/>
                <a:ea typeface="Calibri" pitchFamily="34" charset="-122"/>
                <a:cs typeface="Calibri" pitchFamily="34" charset="-120"/>
              </a:rPr>
              <a:t>Satisfaction data</a:t>
            </a:r>
            <a:endParaRPr lang="en-US" sz="1100" dirty="0"/>
          </a:p>
        </p:txBody>
      </p:sp>
      <p:sp>
        <p:nvSpPr>
          <p:cNvPr id="20" name="Text 18"/>
          <p:cNvSpPr txBox="1"/>
          <p:nvPr/>
        </p:nvSpPr>
        <p:spPr>
          <a:xfrm>
            <a:off x="3310128" y="3474720"/>
            <a:ext cx="265176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Survey respondents, general</a:t>
            </a:r>
            <a:endParaRPr lang="en-US" sz="1100" dirty="0"/>
          </a:p>
        </p:txBody>
      </p:sp>
      <p:sp>
        <p:nvSpPr>
          <p:cNvPr id="21" name="Text 19"/>
          <p:cNvSpPr txBox="1"/>
          <p:nvPr/>
        </p:nvSpPr>
        <p:spPr>
          <a:xfrm>
            <a:off x="6327648" y="3474720"/>
            <a:ext cx="283464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Overall experience, not wellness-specific</a:t>
            </a:r>
            <a:endParaRPr lang="en-US" sz="1100" dirty="0"/>
          </a:p>
        </p:txBody>
      </p:sp>
      <p:sp>
        <p:nvSpPr>
          <p:cNvPr id="22" name="Text 20"/>
          <p:cNvSpPr txBox="1"/>
          <p:nvPr/>
        </p:nvSpPr>
        <p:spPr>
          <a:xfrm>
            <a:off x="9528048" y="3474720"/>
            <a:ext cx="192024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Institution's own cadence</a:t>
            </a:r>
            <a:endParaRPr lang="en-US" sz="1100" dirty="0"/>
          </a:p>
        </p:txBody>
      </p:sp>
      <p:sp>
        <p:nvSpPr>
          <p:cNvPr id="23" name="Shape 21"/>
          <p:cNvSpPr/>
          <p:nvPr/>
        </p:nvSpPr>
        <p:spPr>
          <a:xfrm>
            <a:off x="548640" y="4160520"/>
            <a:ext cx="10972800" cy="685800"/>
          </a:xfrm>
          <a:prstGeom prst="rect">
            <a:avLst/>
          </a:prstGeom>
          <a:solidFill>
            <a:srgbClr val="F3F7F6"/>
          </a:solidFill>
          <a:ln/>
        </p:spPr>
      </p:sp>
      <p:sp>
        <p:nvSpPr>
          <p:cNvPr id="24" name="Text 22"/>
          <p:cNvSpPr txBox="1"/>
          <p:nvPr/>
        </p:nvSpPr>
        <p:spPr>
          <a:xfrm>
            <a:off x="658368" y="4160520"/>
            <a:ext cx="2286000" cy="685800"/>
          </a:xfrm>
          <a:prstGeom prst="rect">
            <a:avLst/>
          </a:prstGeom>
          <a:noFill/>
          <a:ln/>
        </p:spPr>
        <p:txBody>
          <a:bodyPr wrap="square" lIns="0" tIns="0" rIns="0" bIns="0" rtlCol="0" anchor="ctr"/>
          <a:lstStyle/>
          <a:p>
            <a:pPr indent="0" marL="0">
              <a:buNone/>
            </a:pPr>
            <a:r>
              <a:rPr lang="en-US" sz="1100" b="1" dirty="0">
                <a:solidFill>
                  <a:srgbClr val="24333D"/>
                </a:solidFill>
                <a:latin typeface="Calibri" pitchFamily="34" charset="0"/>
                <a:ea typeface="Calibri" pitchFamily="34" charset="-122"/>
                <a:cs typeface="Calibri" pitchFamily="34" charset="-120"/>
              </a:rPr>
              <a:t>Wellness service data</a:t>
            </a:r>
            <a:endParaRPr lang="en-US" sz="1100" dirty="0"/>
          </a:p>
        </p:txBody>
      </p:sp>
      <p:sp>
        <p:nvSpPr>
          <p:cNvPr id="25" name="Text 23"/>
          <p:cNvSpPr txBox="1"/>
          <p:nvPr/>
        </p:nvSpPr>
        <p:spPr>
          <a:xfrm>
            <a:off x="3310128" y="4160520"/>
            <a:ext cx="265176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Students who accessed service</a:t>
            </a:r>
            <a:endParaRPr lang="en-US" sz="1100" dirty="0"/>
          </a:p>
        </p:txBody>
      </p:sp>
      <p:sp>
        <p:nvSpPr>
          <p:cNvPr id="26" name="Text 24"/>
          <p:cNvSpPr txBox="1"/>
          <p:nvPr/>
        </p:nvSpPr>
        <p:spPr>
          <a:xfrm>
            <a:off x="6327648" y="4160520"/>
            <a:ext cx="283464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Visits, wait times, referrals</a:t>
            </a:r>
            <a:endParaRPr lang="en-US" sz="1100" dirty="0"/>
          </a:p>
        </p:txBody>
      </p:sp>
      <p:sp>
        <p:nvSpPr>
          <p:cNvPr id="27" name="Text 25"/>
          <p:cNvSpPr txBox="1"/>
          <p:nvPr/>
        </p:nvSpPr>
        <p:spPr>
          <a:xfrm>
            <a:off x="9528048" y="4160520"/>
            <a:ext cx="1920240" cy="685800"/>
          </a:xfrm>
          <a:prstGeom prst="rect">
            <a:avLst/>
          </a:prstGeom>
          <a:noFill/>
          <a:ln/>
        </p:spPr>
        <p:txBody>
          <a:bodyPr wrap="square" lIns="0" tIns="0" rIns="0" bIns="0" rtlCol="0" anchor="ctr"/>
          <a:lstStyle/>
          <a:p>
            <a:pPr indent="0" marL="0">
              <a:buNone/>
            </a:pPr>
            <a:r>
              <a:rPr lang="en-US" sz="1100" dirty="0">
                <a:solidFill>
                  <a:srgbClr val="24333D"/>
                </a:solidFill>
                <a:latin typeface="Calibri" pitchFamily="34" charset="0"/>
                <a:ea typeface="Calibri" pitchFamily="34" charset="-122"/>
                <a:cs typeface="Calibri" pitchFamily="34" charset="-120"/>
              </a:rPr>
              <a:t>Continuous / real-time</a:t>
            </a:r>
            <a:endParaRPr lang="en-US" sz="1100" dirty="0"/>
          </a:p>
        </p:txBody>
      </p:sp>
      <p:sp>
        <p:nvSpPr>
          <p:cNvPr id="28" name="Text 26"/>
          <p:cNvSpPr txBox="1"/>
          <p:nvPr/>
        </p:nvSpPr>
        <p:spPr>
          <a:xfrm>
            <a:off x="548640" y="5166360"/>
            <a:ext cx="4572000" cy="365760"/>
          </a:xfrm>
          <a:prstGeom prst="rect">
            <a:avLst/>
          </a:prstGeom>
          <a:noFill/>
          <a:ln/>
        </p:spPr>
        <p:txBody>
          <a:bodyPr wrap="square" lIns="0" tIns="0" rIns="0" bIns="0" rtlCol="0" anchor="ctr"/>
          <a:lstStyle/>
          <a:p>
            <a:pPr indent="0" marL="0">
              <a:buNone/>
            </a:pPr>
            <a:r>
              <a:rPr lang="en-US" sz="1400" b="1" dirty="0">
                <a:solidFill>
                  <a:srgbClr val="24333D"/>
                </a:solidFill>
                <a:latin typeface="Cambria" pitchFamily="34" charset="0"/>
                <a:ea typeface="Cambria" pitchFamily="34" charset="-122"/>
                <a:cs typeface="Cambria" pitchFamily="34" charset="-120"/>
              </a:rPr>
              <a:t>Governance in practice:</a:t>
            </a:r>
            <a:endParaRPr lang="en-US" sz="1400" dirty="0"/>
          </a:p>
        </p:txBody>
      </p:sp>
      <p:sp>
        <p:nvSpPr>
          <p:cNvPr id="29" name="Text 27"/>
          <p:cNvSpPr txBox="1"/>
          <p:nvPr/>
        </p:nvSpPr>
        <p:spPr>
          <a:xfrm>
            <a:off x="548640" y="5550408"/>
            <a:ext cx="10972800" cy="365760"/>
          </a:xfrm>
          <a:prstGeom prst="rect">
            <a:avLst/>
          </a:prstGeom>
          <a:noFill/>
          <a:ln/>
        </p:spPr>
        <p:txBody>
          <a:bodyPr wrap="square" lIns="0" tIns="0" rIns="0" bIns="0" rtlCol="0" anchor="ctr"/>
          <a:lstStyle/>
          <a:p>
            <a:pPr marL="342900" indent="-342900">
              <a:buSzPct val="100000"/>
              <a:buChar char="•"/>
            </a:pPr>
            <a:r>
              <a:rPr lang="en-US" sz="1200" dirty="0">
                <a:solidFill>
                  <a:srgbClr val="5B6B73"/>
                </a:solidFill>
                <a:latin typeface="Calibri" pitchFamily="34" charset="0"/>
                <a:ea typeface="Calibri" pitchFamily="34" charset="-122"/>
                <a:cs typeface="Calibri" pitchFamily="34" charset="-120"/>
              </a:rPr>
              <a:t>Apply Five Safes discipline — purpose limitation, minimum necessary data, secure access, safe outputs, suppressed small cells.</a:t>
            </a:r>
            <a:endParaRPr lang="en-US" sz="1200" dirty="0"/>
          </a:p>
        </p:txBody>
      </p:sp>
      <p:sp>
        <p:nvSpPr>
          <p:cNvPr id="30" name="Text 28"/>
          <p:cNvSpPr txBox="1"/>
          <p:nvPr/>
        </p:nvSpPr>
        <p:spPr>
          <a:xfrm>
            <a:off x="548640" y="5916168"/>
            <a:ext cx="10972800" cy="365760"/>
          </a:xfrm>
          <a:prstGeom prst="rect">
            <a:avLst/>
          </a:prstGeom>
          <a:noFill/>
          <a:ln/>
        </p:spPr>
        <p:txBody>
          <a:bodyPr wrap="square" lIns="0" tIns="0" rIns="0" bIns="0" rtlCol="0" anchor="ctr"/>
          <a:lstStyle/>
          <a:p>
            <a:pPr marL="342900" indent="-342900">
              <a:buSzPct val="100000"/>
              <a:buChar char="•"/>
            </a:pPr>
            <a:r>
              <a:rPr lang="en-US" sz="1200" dirty="0">
                <a:solidFill>
                  <a:srgbClr val="5B6B73"/>
                </a:solidFill>
                <a:latin typeface="Calibri" pitchFamily="34" charset="0"/>
                <a:ea typeface="Calibri" pitchFamily="34" charset="-122"/>
                <a:cs typeface="Calibri" pitchFamily="34" charset="-120"/>
              </a:rPr>
              <a:t>PHIPA/FIPPA-aligned handling for any personal health information in Wellness service data, with Guelph's privacy office consulted directly.</a:t>
            </a:r>
            <a:endParaRPr lang="en-US" sz="1200" dirty="0"/>
          </a:p>
        </p:txBody>
      </p:sp>
      <p:sp>
        <p:nvSpPr>
          <p:cNvPr id="31" name="Text 29"/>
          <p:cNvSpPr txBox="1"/>
          <p:nvPr/>
        </p:nvSpPr>
        <p:spPr>
          <a:xfrm>
            <a:off x="548640" y="6281928"/>
            <a:ext cx="10972800" cy="365760"/>
          </a:xfrm>
          <a:prstGeom prst="rect">
            <a:avLst/>
          </a:prstGeom>
          <a:noFill/>
          <a:ln/>
        </p:spPr>
        <p:txBody>
          <a:bodyPr wrap="square" lIns="0" tIns="0" rIns="0" bIns="0" rtlCol="0" anchor="ctr"/>
          <a:lstStyle/>
          <a:p>
            <a:pPr marL="342900" indent="-342900">
              <a:buSzPct val="100000"/>
              <a:buChar char="•"/>
            </a:pPr>
            <a:r>
              <a:rPr lang="en-US" sz="1200" dirty="0">
                <a:solidFill>
                  <a:srgbClr val="5B6B73"/>
                </a:solidFill>
                <a:latin typeface="Calibri" pitchFamily="34" charset="0"/>
                <a:ea typeface="Calibri" pitchFamily="34" charset="-122"/>
                <a:cs typeface="Calibri" pitchFamily="34" charset="-120"/>
              </a:rPr>
              <a:t>Verify before trusting: check whether a trend reflects real change or a definitional/system shift, before it reaches a report.</a:t>
            </a:r>
            <a:endParaRPr lang="en-US" sz="1200" dirty="0"/>
          </a:p>
        </p:txBody>
      </p:sp>
      <p:sp>
        <p:nvSpPr>
          <p:cNvPr id="32" name="Text 30"/>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03 — EVALUATION &amp; CONTINUOUS-IMPROVEMENT FRAMEWORK</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A tiered framework, built on a logic model</a:t>
            </a:r>
            <a:endParaRPr lang="en-US" sz="3000" dirty="0"/>
          </a:p>
        </p:txBody>
      </p:sp>
      <p:sp>
        <p:nvSpPr>
          <p:cNvPr id="4" name="Shape 2"/>
          <p:cNvSpPr/>
          <p:nvPr/>
        </p:nvSpPr>
        <p:spPr>
          <a:xfrm>
            <a:off x="548640" y="1600200"/>
            <a:ext cx="2468880" cy="1417320"/>
          </a:xfrm>
          <a:prstGeom prst="roundRect">
            <a:avLst>
              <a:gd name="adj" fmla="val 5161"/>
            </a:avLst>
          </a:prstGeom>
          <a:solidFill>
            <a:srgbClr val="F3F7F6"/>
          </a:solidFill>
          <a:ln/>
        </p:spPr>
      </p:sp>
      <p:sp>
        <p:nvSpPr>
          <p:cNvPr id="5" name="Text 3"/>
          <p:cNvSpPr txBox="1"/>
          <p:nvPr/>
        </p:nvSpPr>
        <p:spPr>
          <a:xfrm>
            <a:off x="685800" y="1737360"/>
            <a:ext cx="2194560" cy="365760"/>
          </a:xfrm>
          <a:prstGeom prst="rect">
            <a:avLst/>
          </a:prstGeom>
          <a:noFill/>
          <a:ln/>
        </p:spPr>
        <p:txBody>
          <a:bodyPr wrap="square" lIns="0" tIns="0" rIns="0" bIns="0" rtlCol="0" anchor="ctr"/>
          <a:lstStyle/>
          <a:p>
            <a:pPr indent="0" marL="0">
              <a:buNone/>
            </a:pPr>
            <a:r>
              <a:rPr lang="en-US" sz="1300" b="1" dirty="0">
                <a:solidFill>
                  <a:srgbClr val="24333D"/>
                </a:solidFill>
                <a:latin typeface="Cambria" pitchFamily="34" charset="0"/>
                <a:ea typeface="Cambria" pitchFamily="34" charset="-122"/>
                <a:cs typeface="Cambria" pitchFamily="34" charset="-120"/>
              </a:rPr>
              <a:t>INPUTS</a:t>
            </a:r>
            <a:endParaRPr lang="en-US" sz="1300" dirty="0"/>
          </a:p>
        </p:txBody>
      </p:sp>
      <p:sp>
        <p:nvSpPr>
          <p:cNvPr id="6" name="Text 4"/>
          <p:cNvSpPr txBox="1"/>
          <p:nvPr/>
        </p:nvSpPr>
        <p:spPr>
          <a:xfrm>
            <a:off x="685800" y="2130552"/>
            <a:ext cx="2194560" cy="82296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Staffing, funding, service hours</a:t>
            </a:r>
            <a:endParaRPr lang="en-US" sz="1050" dirty="0"/>
          </a:p>
        </p:txBody>
      </p:sp>
      <p:sp>
        <p:nvSpPr>
          <p:cNvPr id="7" name="Text 5"/>
          <p:cNvSpPr txBox="1"/>
          <p:nvPr/>
        </p:nvSpPr>
        <p:spPr>
          <a:xfrm>
            <a:off x="3017520" y="2011680"/>
            <a:ext cx="320040" cy="640080"/>
          </a:xfrm>
          <a:prstGeom prst="rect">
            <a:avLst/>
          </a:prstGeom>
          <a:noFill/>
          <a:ln/>
        </p:spPr>
        <p:txBody>
          <a:bodyPr wrap="square" lIns="0" tIns="0" rIns="0" bIns="0" rtlCol="0" anchor="ctr"/>
          <a:lstStyle/>
          <a:p>
            <a:pPr algn="ctr" indent="0" marL="0">
              <a:buNone/>
            </a:pPr>
            <a:r>
              <a:rPr lang="en-US" sz="2200" b="1" dirty="0">
                <a:solidFill>
                  <a:srgbClr val="50808E"/>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337560" y="1600200"/>
            <a:ext cx="2468880" cy="1417320"/>
          </a:xfrm>
          <a:prstGeom prst="roundRect">
            <a:avLst>
              <a:gd name="adj" fmla="val 5161"/>
            </a:avLst>
          </a:prstGeom>
          <a:solidFill>
            <a:srgbClr val="F3F7F6"/>
          </a:solidFill>
          <a:ln/>
        </p:spPr>
      </p:sp>
      <p:sp>
        <p:nvSpPr>
          <p:cNvPr id="9" name="Text 7"/>
          <p:cNvSpPr txBox="1"/>
          <p:nvPr/>
        </p:nvSpPr>
        <p:spPr>
          <a:xfrm>
            <a:off x="3474720" y="1737360"/>
            <a:ext cx="2194560" cy="365760"/>
          </a:xfrm>
          <a:prstGeom prst="rect">
            <a:avLst/>
          </a:prstGeom>
          <a:noFill/>
          <a:ln/>
        </p:spPr>
        <p:txBody>
          <a:bodyPr wrap="square" lIns="0" tIns="0" rIns="0" bIns="0" rtlCol="0" anchor="ctr"/>
          <a:lstStyle/>
          <a:p>
            <a:pPr indent="0" marL="0">
              <a:buNone/>
            </a:pPr>
            <a:r>
              <a:rPr lang="en-US" sz="1300" b="1" dirty="0">
                <a:solidFill>
                  <a:srgbClr val="24333D"/>
                </a:solidFill>
                <a:latin typeface="Cambria" pitchFamily="34" charset="0"/>
                <a:ea typeface="Cambria" pitchFamily="34" charset="-122"/>
                <a:cs typeface="Cambria" pitchFamily="34" charset="-120"/>
              </a:rPr>
              <a:t>ACTIVITIES</a:t>
            </a:r>
            <a:endParaRPr lang="en-US" sz="1300" dirty="0"/>
          </a:p>
        </p:txBody>
      </p:sp>
      <p:sp>
        <p:nvSpPr>
          <p:cNvPr id="10" name="Text 8"/>
          <p:cNvSpPr txBox="1"/>
          <p:nvPr/>
        </p:nvSpPr>
        <p:spPr>
          <a:xfrm>
            <a:off x="3474720" y="2130552"/>
            <a:ext cx="2194560" cy="82296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Counselling, outreach, referral pathways</a:t>
            </a:r>
            <a:endParaRPr lang="en-US" sz="1050" dirty="0"/>
          </a:p>
        </p:txBody>
      </p:sp>
      <p:sp>
        <p:nvSpPr>
          <p:cNvPr id="11" name="Text 9"/>
          <p:cNvSpPr txBox="1"/>
          <p:nvPr/>
        </p:nvSpPr>
        <p:spPr>
          <a:xfrm>
            <a:off x="5806440" y="2011680"/>
            <a:ext cx="320040" cy="640080"/>
          </a:xfrm>
          <a:prstGeom prst="rect">
            <a:avLst/>
          </a:prstGeom>
          <a:noFill/>
          <a:ln/>
        </p:spPr>
        <p:txBody>
          <a:bodyPr wrap="square" lIns="0" tIns="0" rIns="0" bIns="0" rtlCol="0" anchor="ctr"/>
          <a:lstStyle/>
          <a:p>
            <a:pPr algn="ctr" indent="0" marL="0">
              <a:buNone/>
            </a:pPr>
            <a:r>
              <a:rPr lang="en-US" sz="2200" b="1" dirty="0">
                <a:solidFill>
                  <a:srgbClr val="50808E"/>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126480" y="1600200"/>
            <a:ext cx="2468880" cy="1417320"/>
          </a:xfrm>
          <a:prstGeom prst="roundRect">
            <a:avLst>
              <a:gd name="adj" fmla="val 5161"/>
            </a:avLst>
          </a:prstGeom>
          <a:solidFill>
            <a:srgbClr val="F3F7F6"/>
          </a:solidFill>
          <a:ln/>
        </p:spPr>
      </p:sp>
      <p:sp>
        <p:nvSpPr>
          <p:cNvPr id="13" name="Text 11"/>
          <p:cNvSpPr txBox="1"/>
          <p:nvPr/>
        </p:nvSpPr>
        <p:spPr>
          <a:xfrm>
            <a:off x="6263640" y="1737360"/>
            <a:ext cx="2194560" cy="365760"/>
          </a:xfrm>
          <a:prstGeom prst="rect">
            <a:avLst/>
          </a:prstGeom>
          <a:noFill/>
          <a:ln/>
        </p:spPr>
        <p:txBody>
          <a:bodyPr wrap="square" lIns="0" tIns="0" rIns="0" bIns="0" rtlCol="0" anchor="ctr"/>
          <a:lstStyle/>
          <a:p>
            <a:pPr indent="0" marL="0">
              <a:buNone/>
            </a:pPr>
            <a:r>
              <a:rPr lang="en-US" sz="1300" b="1" dirty="0">
                <a:solidFill>
                  <a:srgbClr val="24333D"/>
                </a:solidFill>
                <a:latin typeface="Cambria" pitchFamily="34" charset="0"/>
                <a:ea typeface="Cambria" pitchFamily="34" charset="-122"/>
                <a:cs typeface="Cambria" pitchFamily="34" charset="-120"/>
              </a:rPr>
              <a:t>OUTPUTS</a:t>
            </a:r>
            <a:endParaRPr lang="en-US" sz="1300" dirty="0"/>
          </a:p>
        </p:txBody>
      </p:sp>
      <p:sp>
        <p:nvSpPr>
          <p:cNvPr id="14" name="Text 12"/>
          <p:cNvSpPr txBox="1"/>
          <p:nvPr/>
        </p:nvSpPr>
        <p:spPr>
          <a:xfrm>
            <a:off x="6263640" y="2130552"/>
            <a:ext cx="2194560" cy="82296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Visits, wait times, unique students served</a:t>
            </a:r>
            <a:endParaRPr lang="en-US" sz="1050" dirty="0"/>
          </a:p>
        </p:txBody>
      </p:sp>
      <p:sp>
        <p:nvSpPr>
          <p:cNvPr id="15" name="Text 13"/>
          <p:cNvSpPr txBox="1"/>
          <p:nvPr/>
        </p:nvSpPr>
        <p:spPr>
          <a:xfrm>
            <a:off x="8595360" y="2011680"/>
            <a:ext cx="320040" cy="640080"/>
          </a:xfrm>
          <a:prstGeom prst="rect">
            <a:avLst/>
          </a:prstGeom>
          <a:noFill/>
          <a:ln/>
        </p:spPr>
        <p:txBody>
          <a:bodyPr wrap="square" lIns="0" tIns="0" rIns="0" bIns="0" rtlCol="0" anchor="ctr"/>
          <a:lstStyle/>
          <a:p>
            <a:pPr algn="ctr" indent="0" marL="0">
              <a:buNone/>
            </a:pPr>
            <a:r>
              <a:rPr lang="en-US" sz="2200" b="1" dirty="0">
                <a:solidFill>
                  <a:srgbClr val="50808E"/>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915400" y="1600200"/>
            <a:ext cx="2468880" cy="1417320"/>
          </a:xfrm>
          <a:prstGeom prst="roundRect">
            <a:avLst>
              <a:gd name="adj" fmla="val 5161"/>
            </a:avLst>
          </a:prstGeom>
          <a:solidFill>
            <a:srgbClr val="6FA98A"/>
          </a:solidFill>
          <a:ln/>
        </p:spPr>
      </p:sp>
      <p:sp>
        <p:nvSpPr>
          <p:cNvPr id="17" name="Text 15"/>
          <p:cNvSpPr txBox="1"/>
          <p:nvPr/>
        </p:nvSpPr>
        <p:spPr>
          <a:xfrm>
            <a:off x="9052560" y="1737360"/>
            <a:ext cx="2194560" cy="3657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OUTCOMES</a:t>
            </a:r>
            <a:endParaRPr lang="en-US" sz="1300" dirty="0"/>
          </a:p>
        </p:txBody>
      </p:sp>
      <p:sp>
        <p:nvSpPr>
          <p:cNvPr id="18" name="Text 16"/>
          <p:cNvSpPr txBox="1"/>
          <p:nvPr/>
        </p:nvSpPr>
        <p:spPr>
          <a:xfrm>
            <a:off x="9052560" y="2130552"/>
            <a:ext cx="2194560" cy="822960"/>
          </a:xfrm>
          <a:prstGeom prst="rect">
            <a:avLst/>
          </a:prstGeom>
          <a:noFill/>
          <a:ln/>
        </p:spPr>
        <p:txBody>
          <a:bodyPr wrap="square" lIns="0" tIns="0" rIns="0" bIns="0" rtlCol="0" anchor="ctr"/>
          <a:lstStyle/>
          <a:p>
            <a:pPr indent="0" marL="0">
              <a:buNone/>
            </a:pPr>
            <a:r>
              <a:rPr lang="en-US" sz="1050" dirty="0">
                <a:solidFill>
                  <a:srgbClr val="EAF3EE"/>
                </a:solidFill>
                <a:latin typeface="Calibri" pitchFamily="34" charset="0"/>
                <a:ea typeface="Calibri" pitchFamily="34" charset="-122"/>
                <a:cs typeface="Calibri" pitchFamily="34" charset="-120"/>
              </a:rPr>
              <a:t>Wellbeing, retention, academic standing</a:t>
            </a:r>
            <a:endParaRPr lang="en-US" sz="1050" dirty="0"/>
          </a:p>
        </p:txBody>
      </p:sp>
      <p:sp>
        <p:nvSpPr>
          <p:cNvPr id="19" name="Text 17"/>
          <p:cNvSpPr txBox="1"/>
          <p:nvPr/>
        </p:nvSpPr>
        <p:spPr>
          <a:xfrm>
            <a:off x="548640" y="3337560"/>
            <a:ext cx="10881360" cy="365760"/>
          </a:xfrm>
          <a:prstGeom prst="rect">
            <a:avLst/>
          </a:prstGeom>
          <a:noFill/>
          <a:ln/>
        </p:spPr>
        <p:txBody>
          <a:bodyPr wrap="square" lIns="0" tIns="0" rIns="0" bIns="0" rtlCol="0" anchor="ctr"/>
          <a:lstStyle/>
          <a:p>
            <a:pPr indent="0" marL="0">
              <a:buNone/>
            </a:pPr>
            <a:r>
              <a:rPr lang="en-US" sz="1400" b="1" dirty="0">
                <a:solidFill>
                  <a:srgbClr val="24333D"/>
                </a:solidFill>
                <a:latin typeface="Cambria" pitchFamily="34" charset="0"/>
                <a:ea typeface="Cambria" pitchFamily="34" charset="-122"/>
                <a:cs typeface="Cambria" pitchFamily="34" charset="-120"/>
              </a:rPr>
              <a:t>Three monitoring tiers, matched to how fast each signal should move:</a:t>
            </a:r>
            <a:endParaRPr lang="en-US" sz="1400" dirty="0"/>
          </a:p>
        </p:txBody>
      </p:sp>
      <p:sp>
        <p:nvSpPr>
          <p:cNvPr id="20" name="Shape 18"/>
          <p:cNvSpPr/>
          <p:nvPr/>
        </p:nvSpPr>
        <p:spPr>
          <a:xfrm>
            <a:off x="548640" y="3840480"/>
            <a:ext cx="3520440" cy="2011680"/>
          </a:xfrm>
          <a:prstGeom prst="roundRect">
            <a:avLst>
              <a:gd name="adj" fmla="val 3636"/>
            </a:avLst>
          </a:prstGeom>
          <a:solidFill>
            <a:srgbClr val="F3F7F6"/>
          </a:solidFill>
          <a:ln/>
        </p:spPr>
      </p:sp>
      <p:sp>
        <p:nvSpPr>
          <p:cNvPr id="21" name="Shape 19"/>
          <p:cNvSpPr/>
          <p:nvPr/>
        </p:nvSpPr>
        <p:spPr>
          <a:xfrm>
            <a:off x="777240" y="4069080"/>
            <a:ext cx="457200" cy="457200"/>
          </a:xfrm>
          <a:prstGeom prst="ellipse">
            <a:avLst/>
          </a:prstGeom>
          <a:solidFill>
            <a:srgbClr val="B85042"/>
          </a:solidFill>
          <a:ln/>
        </p:spPr>
      </p:sp>
      <p:sp>
        <p:nvSpPr>
          <p:cNvPr id="22" name="Text 20"/>
          <p:cNvSpPr txBox="1"/>
          <p:nvPr/>
        </p:nvSpPr>
        <p:spPr>
          <a:xfrm>
            <a:off x="1371600" y="4041648"/>
            <a:ext cx="2514600" cy="502920"/>
          </a:xfrm>
          <a:prstGeom prst="rect">
            <a:avLst/>
          </a:prstGeom>
          <a:noFill/>
          <a:ln/>
        </p:spPr>
        <p:txBody>
          <a:bodyPr wrap="square" lIns="0" tIns="0" rIns="0" bIns="0" rtlCol="0" anchor="ctr"/>
          <a:lstStyle/>
          <a:p>
            <a:pPr indent="0" marL="0">
              <a:buNone/>
            </a:pPr>
            <a:r>
              <a:rPr lang="en-US" sz="1300" b="1" dirty="0">
                <a:solidFill>
                  <a:srgbClr val="24333D"/>
                </a:solidFill>
                <a:latin typeface="Cambria" pitchFamily="34" charset="0"/>
                <a:ea typeface="Cambria" pitchFamily="34" charset="-122"/>
                <a:cs typeface="Cambria" pitchFamily="34" charset="-120"/>
              </a:rPr>
              <a:t>OPERATIONAL</a:t>
            </a:r>
            <a:endParaRPr lang="en-US" sz="1300" dirty="0"/>
          </a:p>
        </p:txBody>
      </p:sp>
      <p:sp>
        <p:nvSpPr>
          <p:cNvPr id="23" name="Text 21"/>
          <p:cNvSpPr txBox="1"/>
          <p:nvPr/>
        </p:nvSpPr>
        <p:spPr>
          <a:xfrm>
            <a:off x="777240" y="4663440"/>
            <a:ext cx="3063240" cy="274320"/>
          </a:xfrm>
          <a:prstGeom prst="rect">
            <a:avLst/>
          </a:prstGeom>
          <a:noFill/>
          <a:ln/>
        </p:spPr>
        <p:txBody>
          <a:bodyPr wrap="square" lIns="0" tIns="0" rIns="0" bIns="0" rtlCol="0" anchor="ctr"/>
          <a:lstStyle/>
          <a:p>
            <a:pPr indent="0" marL="0">
              <a:buNone/>
            </a:pPr>
            <a:r>
              <a:rPr lang="en-US" sz="1050" b="1" i="1" dirty="0">
                <a:solidFill>
                  <a:srgbClr val="B85042"/>
                </a:solidFill>
                <a:latin typeface="Calibri" pitchFamily="34" charset="0"/>
                <a:ea typeface="Calibri" pitchFamily="34" charset="-122"/>
                <a:cs typeface="Calibri" pitchFamily="34" charset="-120"/>
              </a:rPr>
              <a:t>Weekly / monthly</a:t>
            </a:r>
            <a:endParaRPr lang="en-US" sz="1050" dirty="0"/>
          </a:p>
        </p:txBody>
      </p:sp>
      <p:sp>
        <p:nvSpPr>
          <p:cNvPr id="24" name="Text 22"/>
          <p:cNvSpPr txBox="1"/>
          <p:nvPr/>
        </p:nvSpPr>
        <p:spPr>
          <a:xfrm>
            <a:off x="777240" y="4983480"/>
            <a:ext cx="3063240" cy="7772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Wait times, capacity, referral volume — the leading indicators that flag emerging pressure early.</a:t>
            </a:r>
            <a:endParaRPr lang="en-US" sz="1050" dirty="0"/>
          </a:p>
        </p:txBody>
      </p:sp>
      <p:sp>
        <p:nvSpPr>
          <p:cNvPr id="25" name="Shape 23"/>
          <p:cNvSpPr/>
          <p:nvPr/>
        </p:nvSpPr>
        <p:spPr>
          <a:xfrm>
            <a:off x="4325112" y="3840480"/>
            <a:ext cx="3520440" cy="2011680"/>
          </a:xfrm>
          <a:prstGeom prst="roundRect">
            <a:avLst>
              <a:gd name="adj" fmla="val 3636"/>
            </a:avLst>
          </a:prstGeom>
          <a:solidFill>
            <a:srgbClr val="F3F7F6"/>
          </a:solidFill>
          <a:ln/>
        </p:spPr>
      </p:sp>
      <p:sp>
        <p:nvSpPr>
          <p:cNvPr id="26" name="Shape 24"/>
          <p:cNvSpPr/>
          <p:nvPr/>
        </p:nvSpPr>
        <p:spPr>
          <a:xfrm>
            <a:off x="4553712" y="4069080"/>
            <a:ext cx="457200" cy="457200"/>
          </a:xfrm>
          <a:prstGeom prst="ellipse">
            <a:avLst/>
          </a:prstGeom>
          <a:solidFill>
            <a:srgbClr val="50808E"/>
          </a:solidFill>
          <a:ln/>
        </p:spPr>
      </p:sp>
      <p:sp>
        <p:nvSpPr>
          <p:cNvPr id="27" name="Text 25"/>
          <p:cNvSpPr txBox="1"/>
          <p:nvPr/>
        </p:nvSpPr>
        <p:spPr>
          <a:xfrm>
            <a:off x="5148072" y="4041648"/>
            <a:ext cx="2514600" cy="502920"/>
          </a:xfrm>
          <a:prstGeom prst="rect">
            <a:avLst/>
          </a:prstGeom>
          <a:noFill/>
          <a:ln/>
        </p:spPr>
        <p:txBody>
          <a:bodyPr wrap="square" lIns="0" tIns="0" rIns="0" bIns="0" rtlCol="0" anchor="ctr"/>
          <a:lstStyle/>
          <a:p>
            <a:pPr indent="0" marL="0">
              <a:buNone/>
            </a:pPr>
            <a:r>
              <a:rPr lang="en-US" sz="1300" b="1" dirty="0">
                <a:solidFill>
                  <a:srgbClr val="24333D"/>
                </a:solidFill>
                <a:latin typeface="Cambria" pitchFamily="34" charset="0"/>
                <a:ea typeface="Cambria" pitchFamily="34" charset="-122"/>
                <a:cs typeface="Cambria" pitchFamily="34" charset="-120"/>
              </a:rPr>
              <a:t>POPULATION</a:t>
            </a:r>
            <a:endParaRPr lang="en-US" sz="1300" dirty="0"/>
          </a:p>
        </p:txBody>
      </p:sp>
      <p:sp>
        <p:nvSpPr>
          <p:cNvPr id="28" name="Text 26"/>
          <p:cNvSpPr txBox="1"/>
          <p:nvPr/>
        </p:nvSpPr>
        <p:spPr>
          <a:xfrm>
            <a:off x="4553712" y="4663440"/>
            <a:ext cx="3063240" cy="274320"/>
          </a:xfrm>
          <a:prstGeom prst="rect">
            <a:avLst/>
          </a:prstGeom>
          <a:noFill/>
          <a:ln/>
        </p:spPr>
        <p:txBody>
          <a:bodyPr wrap="square" lIns="0" tIns="0" rIns="0" bIns="0" rtlCol="0" anchor="ctr"/>
          <a:lstStyle/>
          <a:p>
            <a:pPr indent="0" marL="0">
              <a:buNone/>
            </a:pPr>
            <a:r>
              <a:rPr lang="en-US" sz="1050" b="1" i="1" dirty="0">
                <a:solidFill>
                  <a:srgbClr val="50808E"/>
                </a:solidFill>
                <a:latin typeface="Calibri" pitchFamily="34" charset="0"/>
                <a:ea typeface="Calibri" pitchFamily="34" charset="-122"/>
                <a:cs typeface="Calibri" pitchFamily="34" charset="-120"/>
              </a:rPr>
              <a:t>Per CCWS cycle</a:t>
            </a:r>
            <a:endParaRPr lang="en-US" sz="1050" dirty="0"/>
          </a:p>
        </p:txBody>
      </p:sp>
      <p:sp>
        <p:nvSpPr>
          <p:cNvPr id="29" name="Text 27"/>
          <p:cNvSpPr txBox="1"/>
          <p:nvPr/>
        </p:nvSpPr>
        <p:spPr>
          <a:xfrm>
            <a:off x="4553712" y="4983480"/>
            <a:ext cx="3063240" cy="7772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Self-reported need, stigma, help-seeking — tracked against Guelph's own CCWS administration schedule.</a:t>
            </a:r>
            <a:endParaRPr lang="en-US" sz="1050" dirty="0"/>
          </a:p>
        </p:txBody>
      </p:sp>
      <p:sp>
        <p:nvSpPr>
          <p:cNvPr id="30" name="Shape 28"/>
          <p:cNvSpPr/>
          <p:nvPr/>
        </p:nvSpPr>
        <p:spPr>
          <a:xfrm>
            <a:off x="8101584" y="3840480"/>
            <a:ext cx="3520440" cy="2011680"/>
          </a:xfrm>
          <a:prstGeom prst="roundRect">
            <a:avLst>
              <a:gd name="adj" fmla="val 3636"/>
            </a:avLst>
          </a:prstGeom>
          <a:solidFill>
            <a:srgbClr val="F3F7F6"/>
          </a:solidFill>
          <a:ln/>
        </p:spPr>
      </p:sp>
      <p:sp>
        <p:nvSpPr>
          <p:cNvPr id="31" name="Shape 29"/>
          <p:cNvSpPr/>
          <p:nvPr/>
        </p:nvSpPr>
        <p:spPr>
          <a:xfrm>
            <a:off x="8330184" y="4069080"/>
            <a:ext cx="457200" cy="457200"/>
          </a:xfrm>
          <a:prstGeom prst="ellipse">
            <a:avLst/>
          </a:prstGeom>
          <a:solidFill>
            <a:srgbClr val="6FA98A"/>
          </a:solidFill>
          <a:ln/>
        </p:spPr>
      </p:sp>
      <p:sp>
        <p:nvSpPr>
          <p:cNvPr id="32" name="Text 30"/>
          <p:cNvSpPr txBox="1"/>
          <p:nvPr/>
        </p:nvSpPr>
        <p:spPr>
          <a:xfrm>
            <a:off x="8924544" y="4041648"/>
            <a:ext cx="2514600" cy="502920"/>
          </a:xfrm>
          <a:prstGeom prst="rect">
            <a:avLst/>
          </a:prstGeom>
          <a:noFill/>
          <a:ln/>
        </p:spPr>
        <p:txBody>
          <a:bodyPr wrap="square" lIns="0" tIns="0" rIns="0" bIns="0" rtlCol="0" anchor="ctr"/>
          <a:lstStyle/>
          <a:p>
            <a:pPr indent="0" marL="0">
              <a:buNone/>
            </a:pPr>
            <a:r>
              <a:rPr lang="en-US" sz="1300" b="1" dirty="0">
                <a:solidFill>
                  <a:srgbClr val="24333D"/>
                </a:solidFill>
                <a:latin typeface="Cambria" pitchFamily="34" charset="0"/>
                <a:ea typeface="Cambria" pitchFamily="34" charset="-122"/>
                <a:cs typeface="Cambria" pitchFamily="34" charset="-120"/>
              </a:rPr>
              <a:t>OUTCOME</a:t>
            </a:r>
            <a:endParaRPr lang="en-US" sz="1300" dirty="0"/>
          </a:p>
        </p:txBody>
      </p:sp>
      <p:sp>
        <p:nvSpPr>
          <p:cNvPr id="33" name="Text 31"/>
          <p:cNvSpPr txBox="1"/>
          <p:nvPr/>
        </p:nvSpPr>
        <p:spPr>
          <a:xfrm>
            <a:off x="8330184" y="4663440"/>
            <a:ext cx="3063240" cy="274320"/>
          </a:xfrm>
          <a:prstGeom prst="rect">
            <a:avLst/>
          </a:prstGeom>
          <a:noFill/>
          <a:ln/>
        </p:spPr>
        <p:txBody>
          <a:bodyPr wrap="square" lIns="0" tIns="0" rIns="0" bIns="0" rtlCol="0" anchor="ctr"/>
          <a:lstStyle/>
          <a:p>
            <a:pPr indent="0" marL="0">
              <a:buNone/>
            </a:pPr>
            <a:r>
              <a:rPr lang="en-US" sz="1050" b="1" i="1" dirty="0">
                <a:solidFill>
                  <a:srgbClr val="6FA98A"/>
                </a:solidFill>
                <a:latin typeface="Calibri" pitchFamily="34" charset="0"/>
                <a:ea typeface="Calibri" pitchFamily="34" charset="-122"/>
                <a:cs typeface="Calibri" pitchFamily="34" charset="-120"/>
              </a:rPr>
              <a:t>Annual</a:t>
            </a:r>
            <a:endParaRPr lang="en-US" sz="1050" dirty="0"/>
          </a:p>
        </p:txBody>
      </p:sp>
      <p:sp>
        <p:nvSpPr>
          <p:cNvPr id="34" name="Text 32"/>
          <p:cNvSpPr txBox="1"/>
          <p:nvPr/>
        </p:nvSpPr>
        <p:spPr>
          <a:xfrm>
            <a:off x="8330184" y="4983480"/>
            <a:ext cx="3063240" cy="7772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Retention associations, student-reported improvement — reviewed on a longer horizon, disaggregated by student population.</a:t>
            </a:r>
            <a:endParaRPr lang="en-US" sz="1050" dirty="0"/>
          </a:p>
        </p:txBody>
      </p:sp>
      <p:sp>
        <p:nvSpPr>
          <p:cNvPr id="35" name="Text 33"/>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333D"/>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6FA98A"/>
                </a:solidFill>
                <a:latin typeface="Calibri" pitchFamily="34" charset="0"/>
                <a:ea typeface="Calibri" pitchFamily="34" charset="-122"/>
                <a:cs typeface="Calibri" pitchFamily="34" charset="-120"/>
              </a:rPr>
              <a:t>03 — EVALUATION &amp; CONTINUOUS-IMPROVEMENT FRAMEWORK</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This framework already has a natural rhythm</a:t>
            </a:r>
            <a:endParaRPr lang="en-US" sz="3000" dirty="0"/>
          </a:p>
        </p:txBody>
      </p:sp>
      <p:sp>
        <p:nvSpPr>
          <p:cNvPr id="4" name="Text 2"/>
          <p:cNvSpPr txBox="1"/>
          <p:nvPr/>
        </p:nvSpPr>
        <p:spPr>
          <a:xfrm>
            <a:off x="548640" y="1554480"/>
            <a:ext cx="10881360" cy="1097280"/>
          </a:xfrm>
          <a:prstGeom prst="rect">
            <a:avLst/>
          </a:prstGeom>
          <a:noFill/>
          <a:ln/>
        </p:spPr>
        <p:txBody>
          <a:bodyPr wrap="square" lIns="0" tIns="0" rIns="0" bIns="0" rtlCol="0" anchor="ctr"/>
          <a:lstStyle/>
          <a:p>
            <a:pPr indent="0" marL="0">
              <a:buNone/>
            </a:pPr>
            <a:r>
              <a:rPr lang="en-US" sz="1500" dirty="0">
                <a:solidFill>
                  <a:srgbClr val="D7E4E0"/>
                </a:solidFill>
                <a:latin typeface="Calibri" pitchFamily="34" charset="0"/>
                <a:ea typeface="Calibri" pitchFamily="34" charset="-122"/>
                <a:cs typeface="Calibri" pitchFamily="34" charset="-120"/>
              </a:rPr>
              <a:t>Ontario's Minister's Directive on Student Mental Health (effective January 2025) requires publicly assisted institutions to report annually to their Board of Governors on the implementation and effectiveness of their mental health policy — by January 31 each year, starting 2026.</a:t>
            </a:r>
            <a:endParaRPr lang="en-US" sz="1500" dirty="0"/>
          </a:p>
        </p:txBody>
      </p:sp>
      <p:sp>
        <p:nvSpPr>
          <p:cNvPr id="5" name="Shape 3"/>
          <p:cNvSpPr/>
          <p:nvPr/>
        </p:nvSpPr>
        <p:spPr>
          <a:xfrm>
            <a:off x="548640" y="2926080"/>
            <a:ext cx="10881360" cy="2651760"/>
          </a:xfrm>
          <a:prstGeom prst="roundRect">
            <a:avLst>
              <a:gd name="adj" fmla="val 3448"/>
            </a:avLst>
          </a:prstGeom>
          <a:solidFill>
            <a:srgbClr val="2E4450"/>
          </a:solidFill>
          <a:ln/>
        </p:spPr>
      </p:sp>
      <p:sp>
        <p:nvSpPr>
          <p:cNvPr id="6" name="Text 4"/>
          <p:cNvSpPr txBox="1"/>
          <p:nvPr/>
        </p:nvSpPr>
        <p:spPr>
          <a:xfrm>
            <a:off x="914400" y="3200400"/>
            <a:ext cx="10058400" cy="365760"/>
          </a:xfrm>
          <a:prstGeom prst="rect">
            <a:avLst/>
          </a:prstGeom>
          <a:noFill/>
          <a:ln/>
        </p:spPr>
        <p:txBody>
          <a:bodyPr wrap="square" lIns="0" tIns="0" rIns="0" bIns="0" rtlCol="0" anchor="ctr"/>
          <a:lstStyle/>
          <a:p>
            <a:pPr indent="0" marL="0">
              <a:buNone/>
            </a:pPr>
            <a:r>
              <a:rPr lang="en-US" sz="1600" b="1" dirty="0">
                <a:solidFill>
                  <a:srgbClr val="6FA98A"/>
                </a:solidFill>
                <a:latin typeface="Cambria" pitchFamily="34" charset="0"/>
                <a:ea typeface="Cambria" pitchFamily="34" charset="-122"/>
                <a:cs typeface="Cambria" pitchFamily="34" charset="-120"/>
              </a:rPr>
              <a:t>The opportunity:</a:t>
            </a:r>
            <a:endParaRPr lang="en-US" sz="1600" dirty="0"/>
          </a:p>
        </p:txBody>
      </p:sp>
      <p:sp>
        <p:nvSpPr>
          <p:cNvPr id="7" name="Text 5"/>
          <p:cNvSpPr txBox="1"/>
          <p:nvPr/>
        </p:nvSpPr>
        <p:spPr>
          <a:xfrm>
            <a:off x="914400" y="3657600"/>
            <a:ext cx="10149840" cy="594360"/>
          </a:xfrm>
          <a:prstGeom prst="rect">
            <a:avLst/>
          </a:prstGeom>
          <a:noFill/>
          <a:ln/>
        </p:spPr>
        <p:txBody>
          <a:bodyPr wrap="square" lIns="0" tIns="0" rIns="0" bIns="0"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Continuous operational monitoring feeds a running evidence base all year — not a scramble every January.</a:t>
            </a:r>
            <a:endParaRPr lang="en-US" sz="1300" dirty="0"/>
          </a:p>
        </p:txBody>
      </p:sp>
      <p:sp>
        <p:nvSpPr>
          <p:cNvPr id="8" name="Text 6"/>
          <p:cNvSpPr txBox="1"/>
          <p:nvPr/>
        </p:nvSpPr>
        <p:spPr>
          <a:xfrm>
            <a:off x="914400" y="4279392"/>
            <a:ext cx="10149840" cy="594360"/>
          </a:xfrm>
          <a:prstGeom prst="rect">
            <a:avLst/>
          </a:prstGeom>
          <a:noFill/>
          <a:ln/>
        </p:spPr>
        <p:txBody>
          <a:bodyPr wrap="square" lIns="0" tIns="0" rIns="0" bIns="0"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The annual Board report becomes the natural checkpoint to synthesize CCWS, satisfaction, and service data together — one governed, defensible narrative, not three competing numbers.</a:t>
            </a:r>
            <a:endParaRPr lang="en-US" sz="1300" dirty="0"/>
          </a:p>
        </p:txBody>
      </p:sp>
      <p:sp>
        <p:nvSpPr>
          <p:cNvPr id="9" name="Text 7"/>
          <p:cNvSpPr txBox="1"/>
          <p:nvPr/>
        </p:nvSpPr>
        <p:spPr>
          <a:xfrm>
            <a:off x="914400" y="4901184"/>
            <a:ext cx="10149840" cy="594360"/>
          </a:xfrm>
          <a:prstGeom prst="rect">
            <a:avLst/>
          </a:prstGeom>
          <a:noFill/>
          <a:ln/>
        </p:spPr>
        <p:txBody>
          <a:bodyPr wrap="square" lIns="0" tIns="0" rIns="0" bIns="0"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Future measurement changes (like the NCHA→CCWS transition) get flagged and documented as they happen, so we don't rediscover a comparability break after the fact.</a:t>
            </a:r>
            <a:endParaRPr lang="en-US" sz="1300" dirty="0"/>
          </a:p>
        </p:txBody>
      </p:sp>
      <p:sp>
        <p:nvSpPr>
          <p:cNvPr id="10" name="Text 8"/>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04 — ADVICE TO LEADERSHIP</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Immediate actions — don't wait for perfect data</a:t>
            </a:r>
            <a:endParaRPr lang="en-US" sz="3000" dirty="0"/>
          </a:p>
        </p:txBody>
      </p:sp>
      <p:sp>
        <p:nvSpPr>
          <p:cNvPr id="4" name="Shape 2"/>
          <p:cNvSpPr/>
          <p:nvPr/>
        </p:nvSpPr>
        <p:spPr>
          <a:xfrm>
            <a:off x="548640" y="1691640"/>
            <a:ext cx="10881360" cy="1417320"/>
          </a:xfrm>
          <a:prstGeom prst="roundRect">
            <a:avLst>
              <a:gd name="adj" fmla="val 5161"/>
            </a:avLst>
          </a:prstGeom>
          <a:solidFill>
            <a:srgbClr val="F3F7F6"/>
          </a:solidFill>
          <a:ln/>
        </p:spPr>
      </p:sp>
      <p:sp>
        <p:nvSpPr>
          <p:cNvPr id="5" name="Shape 3"/>
          <p:cNvSpPr/>
          <p:nvPr/>
        </p:nvSpPr>
        <p:spPr>
          <a:xfrm>
            <a:off x="868680" y="2034540"/>
            <a:ext cx="731520" cy="731520"/>
          </a:xfrm>
          <a:prstGeom prst="ellipse">
            <a:avLst/>
          </a:prstGeom>
          <a:solidFill>
            <a:srgbClr val="B85042"/>
          </a:solidFill>
          <a:ln/>
        </p:spPr>
      </p:sp>
      <p:sp>
        <p:nvSpPr>
          <p:cNvPr id="6" name="Text 4"/>
          <p:cNvSpPr txBox="1"/>
          <p:nvPr/>
        </p:nvSpPr>
        <p:spPr>
          <a:xfrm>
            <a:off x="868680" y="20345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920240" y="1874520"/>
            <a:ext cx="9235440" cy="411480"/>
          </a:xfrm>
          <a:prstGeom prst="rect">
            <a:avLst/>
          </a:prstGeom>
          <a:noFill/>
          <a:ln/>
        </p:spPr>
        <p:txBody>
          <a:bodyPr wrap="square" lIns="0" tIns="0" rIns="0" bIns="0" rtlCol="0" anchor="ctr"/>
          <a:lstStyle/>
          <a:p>
            <a:pPr indent="0" marL="0">
              <a:buNone/>
            </a:pPr>
            <a:r>
              <a:rPr lang="en-US" sz="1600" b="1" dirty="0">
                <a:solidFill>
                  <a:srgbClr val="24333D"/>
                </a:solidFill>
                <a:latin typeface="Cambria" pitchFamily="34" charset="0"/>
                <a:ea typeface="Cambria" pitchFamily="34" charset="-122"/>
                <a:cs typeface="Cambria" pitchFamily="34" charset="-120"/>
              </a:rPr>
              <a:t>Commission the lineage table</a:t>
            </a:r>
            <a:endParaRPr lang="en-US" sz="1600" dirty="0"/>
          </a:p>
        </p:txBody>
      </p:sp>
      <p:sp>
        <p:nvSpPr>
          <p:cNvPr id="8" name="Text 6"/>
          <p:cNvSpPr txBox="1"/>
          <p:nvPr/>
        </p:nvSpPr>
        <p:spPr>
          <a:xfrm>
            <a:off x="1920240" y="2313432"/>
            <a:ext cx="9235440" cy="685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Document source, population, definition, and period for all three datasets before any further public claim about the size of the increase.</a:t>
            </a:r>
            <a:endParaRPr lang="en-US" sz="1250" dirty="0"/>
          </a:p>
        </p:txBody>
      </p:sp>
      <p:sp>
        <p:nvSpPr>
          <p:cNvPr id="9" name="Shape 7"/>
          <p:cNvSpPr/>
          <p:nvPr/>
        </p:nvSpPr>
        <p:spPr>
          <a:xfrm>
            <a:off x="548640" y="3364992"/>
            <a:ext cx="10881360" cy="1417320"/>
          </a:xfrm>
          <a:prstGeom prst="roundRect">
            <a:avLst>
              <a:gd name="adj" fmla="val 5161"/>
            </a:avLst>
          </a:prstGeom>
          <a:solidFill>
            <a:srgbClr val="F3F7F6"/>
          </a:solidFill>
          <a:ln/>
        </p:spPr>
      </p:sp>
      <p:sp>
        <p:nvSpPr>
          <p:cNvPr id="10" name="Shape 8"/>
          <p:cNvSpPr/>
          <p:nvPr/>
        </p:nvSpPr>
        <p:spPr>
          <a:xfrm>
            <a:off x="868680" y="3707892"/>
            <a:ext cx="731520" cy="731520"/>
          </a:xfrm>
          <a:prstGeom prst="ellipse">
            <a:avLst/>
          </a:prstGeom>
          <a:solidFill>
            <a:srgbClr val="B85042"/>
          </a:solidFill>
          <a:ln/>
        </p:spPr>
      </p:sp>
      <p:sp>
        <p:nvSpPr>
          <p:cNvPr id="11" name="Text 9"/>
          <p:cNvSpPr txBox="1"/>
          <p:nvPr/>
        </p:nvSpPr>
        <p:spPr>
          <a:xfrm>
            <a:off x="868680" y="3707892"/>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920240" y="3547872"/>
            <a:ext cx="9235440" cy="411480"/>
          </a:xfrm>
          <a:prstGeom prst="rect">
            <a:avLst/>
          </a:prstGeom>
          <a:noFill/>
          <a:ln/>
        </p:spPr>
        <p:txBody>
          <a:bodyPr wrap="square" lIns="0" tIns="0" rIns="0" bIns="0" rtlCol="0" anchor="ctr"/>
          <a:lstStyle/>
          <a:p>
            <a:pPr indent="0" marL="0">
              <a:buNone/>
            </a:pPr>
            <a:r>
              <a:rPr lang="en-US" sz="1600" b="1" dirty="0">
                <a:solidFill>
                  <a:srgbClr val="24333D"/>
                </a:solidFill>
                <a:latin typeface="Cambria" pitchFamily="34" charset="0"/>
                <a:ea typeface="Cambria" pitchFamily="34" charset="-122"/>
                <a:cs typeface="Cambria" pitchFamily="34" charset="-120"/>
              </a:rPr>
              <a:t>Communicate the honest signal now</a:t>
            </a:r>
            <a:endParaRPr lang="en-US" sz="1600" dirty="0"/>
          </a:p>
        </p:txBody>
      </p:sp>
      <p:sp>
        <p:nvSpPr>
          <p:cNvPr id="13" name="Text 11"/>
          <p:cNvSpPr txBox="1"/>
          <p:nvPr/>
        </p:nvSpPr>
        <p:spPr>
          <a:xfrm>
            <a:off x="1920240" y="3986784"/>
            <a:ext cx="9235440" cy="685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directional evidence is real and convergent — say so — while being explicit that a precise magnitude isn't yet comparable across sources.</a:t>
            </a:r>
            <a:endParaRPr lang="en-US" sz="1250" dirty="0"/>
          </a:p>
        </p:txBody>
      </p:sp>
      <p:sp>
        <p:nvSpPr>
          <p:cNvPr id="14" name="Shape 12"/>
          <p:cNvSpPr/>
          <p:nvPr/>
        </p:nvSpPr>
        <p:spPr>
          <a:xfrm>
            <a:off x="548640" y="5038344"/>
            <a:ext cx="10881360" cy="1417320"/>
          </a:xfrm>
          <a:prstGeom prst="roundRect">
            <a:avLst>
              <a:gd name="adj" fmla="val 5161"/>
            </a:avLst>
          </a:prstGeom>
          <a:solidFill>
            <a:srgbClr val="F3F7F6"/>
          </a:solidFill>
          <a:ln/>
        </p:spPr>
      </p:sp>
      <p:sp>
        <p:nvSpPr>
          <p:cNvPr id="15" name="Shape 13"/>
          <p:cNvSpPr/>
          <p:nvPr/>
        </p:nvSpPr>
        <p:spPr>
          <a:xfrm>
            <a:off x="868680" y="5381244"/>
            <a:ext cx="731520" cy="731520"/>
          </a:xfrm>
          <a:prstGeom prst="ellipse">
            <a:avLst/>
          </a:prstGeom>
          <a:solidFill>
            <a:srgbClr val="B85042"/>
          </a:solidFill>
          <a:ln/>
        </p:spPr>
      </p:sp>
      <p:sp>
        <p:nvSpPr>
          <p:cNvPr id="16" name="Text 14"/>
          <p:cNvSpPr txBox="1"/>
          <p:nvPr/>
        </p:nvSpPr>
        <p:spPr>
          <a:xfrm>
            <a:off x="868680" y="5381244"/>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920240" y="5221224"/>
            <a:ext cx="9235440" cy="411480"/>
          </a:xfrm>
          <a:prstGeom prst="rect">
            <a:avLst/>
          </a:prstGeom>
          <a:noFill/>
          <a:ln/>
        </p:spPr>
        <p:txBody>
          <a:bodyPr wrap="square" lIns="0" tIns="0" rIns="0" bIns="0" rtlCol="0" anchor="ctr"/>
          <a:lstStyle/>
          <a:p>
            <a:pPr indent="0" marL="0">
              <a:buNone/>
            </a:pPr>
            <a:r>
              <a:rPr lang="en-US" sz="1600" b="1" dirty="0">
                <a:solidFill>
                  <a:srgbClr val="24333D"/>
                </a:solidFill>
                <a:latin typeface="Cambria" pitchFamily="34" charset="0"/>
                <a:ea typeface="Cambria" pitchFamily="34" charset="-122"/>
                <a:cs typeface="Cambria" pitchFamily="34" charset="-120"/>
              </a:rPr>
              <a:t>Act on low-regret operational fixes</a:t>
            </a:r>
            <a:endParaRPr lang="en-US" sz="1600" dirty="0"/>
          </a:p>
        </p:txBody>
      </p:sp>
      <p:sp>
        <p:nvSpPr>
          <p:cNvPr id="18" name="Text 16"/>
          <p:cNvSpPr txBox="1"/>
          <p:nvPr/>
        </p:nvSpPr>
        <p:spPr>
          <a:xfrm>
            <a:off x="1920240" y="5660136"/>
            <a:ext cx="9235440" cy="685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Address known capacity and wait-time pressures using internal utilization data — this doesn't require resolving the cross-source measurement question first.</a:t>
            </a:r>
            <a:endParaRPr lang="en-US" sz="1250" dirty="0"/>
          </a:p>
        </p:txBody>
      </p:sp>
      <p:sp>
        <p:nvSpPr>
          <p:cNvPr id="19" name="Text 17"/>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04 — ADVICE TO LEADERSHIP</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Longer-term actions — build the durable pipeline</a:t>
            </a:r>
            <a:endParaRPr lang="en-US" sz="3000" dirty="0"/>
          </a:p>
        </p:txBody>
      </p:sp>
      <p:sp>
        <p:nvSpPr>
          <p:cNvPr id="4" name="Shape 2"/>
          <p:cNvSpPr/>
          <p:nvPr/>
        </p:nvSpPr>
        <p:spPr>
          <a:xfrm>
            <a:off x="548640" y="1691640"/>
            <a:ext cx="10881360" cy="1417320"/>
          </a:xfrm>
          <a:prstGeom prst="roundRect">
            <a:avLst>
              <a:gd name="adj" fmla="val 5161"/>
            </a:avLst>
          </a:prstGeom>
          <a:solidFill>
            <a:srgbClr val="F3F7F6"/>
          </a:solidFill>
          <a:ln/>
        </p:spPr>
      </p:sp>
      <p:sp>
        <p:nvSpPr>
          <p:cNvPr id="5" name="Shape 3"/>
          <p:cNvSpPr/>
          <p:nvPr/>
        </p:nvSpPr>
        <p:spPr>
          <a:xfrm>
            <a:off x="868680" y="2034540"/>
            <a:ext cx="731520" cy="731520"/>
          </a:xfrm>
          <a:prstGeom prst="ellipse">
            <a:avLst/>
          </a:prstGeom>
          <a:solidFill>
            <a:srgbClr val="6FA98A"/>
          </a:solidFill>
          <a:ln/>
        </p:spPr>
      </p:sp>
      <p:sp>
        <p:nvSpPr>
          <p:cNvPr id="6" name="Text 4"/>
          <p:cNvSpPr txBox="1"/>
          <p:nvPr/>
        </p:nvSpPr>
        <p:spPr>
          <a:xfrm>
            <a:off x="868680" y="20345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920240" y="1874520"/>
            <a:ext cx="9235440" cy="411480"/>
          </a:xfrm>
          <a:prstGeom prst="rect">
            <a:avLst/>
          </a:prstGeom>
          <a:noFill/>
          <a:ln/>
        </p:spPr>
        <p:txBody>
          <a:bodyPr wrap="square" lIns="0" tIns="0" rIns="0" bIns="0" rtlCol="0" anchor="ctr"/>
          <a:lstStyle/>
          <a:p>
            <a:pPr indent="0" marL="0">
              <a:buNone/>
            </a:pPr>
            <a:r>
              <a:rPr lang="en-US" sz="1600" b="1" dirty="0">
                <a:solidFill>
                  <a:srgbClr val="24333D"/>
                </a:solidFill>
                <a:latin typeface="Cambria" pitchFamily="34" charset="0"/>
                <a:ea typeface="Cambria" pitchFamily="34" charset="-122"/>
                <a:cs typeface="Cambria" pitchFamily="34" charset="-120"/>
              </a:rPr>
              <a:t>Standardize definitions across sources</a:t>
            </a:r>
            <a:endParaRPr lang="en-US" sz="1600" dirty="0"/>
          </a:p>
        </p:txBody>
      </p:sp>
      <p:sp>
        <p:nvSpPr>
          <p:cNvPr id="8" name="Text 6"/>
          <p:cNvSpPr txBox="1"/>
          <p:nvPr/>
        </p:nvSpPr>
        <p:spPr>
          <a:xfrm>
            <a:off x="1920240" y="2313432"/>
            <a:ext cx="9235440" cy="685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Agree on common operational definitions of need, demand, access, and utilization so future comparisons are meaningful — not just convenient.</a:t>
            </a:r>
            <a:endParaRPr lang="en-US" sz="1250" dirty="0"/>
          </a:p>
        </p:txBody>
      </p:sp>
      <p:sp>
        <p:nvSpPr>
          <p:cNvPr id="9" name="Shape 7"/>
          <p:cNvSpPr/>
          <p:nvPr/>
        </p:nvSpPr>
        <p:spPr>
          <a:xfrm>
            <a:off x="548640" y="3364992"/>
            <a:ext cx="10881360" cy="1417320"/>
          </a:xfrm>
          <a:prstGeom prst="roundRect">
            <a:avLst>
              <a:gd name="adj" fmla="val 5161"/>
            </a:avLst>
          </a:prstGeom>
          <a:solidFill>
            <a:srgbClr val="F3F7F6"/>
          </a:solidFill>
          <a:ln/>
        </p:spPr>
      </p:sp>
      <p:sp>
        <p:nvSpPr>
          <p:cNvPr id="10" name="Shape 8"/>
          <p:cNvSpPr/>
          <p:nvPr/>
        </p:nvSpPr>
        <p:spPr>
          <a:xfrm>
            <a:off x="868680" y="3707892"/>
            <a:ext cx="731520" cy="731520"/>
          </a:xfrm>
          <a:prstGeom prst="ellipse">
            <a:avLst/>
          </a:prstGeom>
          <a:solidFill>
            <a:srgbClr val="6FA98A"/>
          </a:solidFill>
          <a:ln/>
        </p:spPr>
      </p:sp>
      <p:sp>
        <p:nvSpPr>
          <p:cNvPr id="11" name="Text 9"/>
          <p:cNvSpPr txBox="1"/>
          <p:nvPr/>
        </p:nvSpPr>
        <p:spPr>
          <a:xfrm>
            <a:off x="868680" y="3707892"/>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920240" y="3547872"/>
            <a:ext cx="9235440" cy="411480"/>
          </a:xfrm>
          <a:prstGeom prst="rect">
            <a:avLst/>
          </a:prstGeom>
          <a:noFill/>
          <a:ln/>
        </p:spPr>
        <p:txBody>
          <a:bodyPr wrap="square" lIns="0" tIns="0" rIns="0" bIns="0" rtlCol="0" anchor="ctr"/>
          <a:lstStyle/>
          <a:p>
            <a:pPr indent="0" marL="0">
              <a:buNone/>
            </a:pPr>
            <a:r>
              <a:rPr lang="en-US" sz="1600" b="1" dirty="0">
                <a:solidFill>
                  <a:srgbClr val="24333D"/>
                </a:solidFill>
                <a:latin typeface="Cambria" pitchFamily="34" charset="0"/>
                <a:ea typeface="Cambria" pitchFamily="34" charset="-122"/>
                <a:cs typeface="Cambria" pitchFamily="34" charset="-120"/>
              </a:rPr>
              <a:t>Prioritize population-level signal for “need”</a:t>
            </a:r>
            <a:endParaRPr lang="en-US" sz="1600" dirty="0"/>
          </a:p>
        </p:txBody>
      </p:sp>
      <p:sp>
        <p:nvSpPr>
          <p:cNvPr id="13" name="Text 11"/>
          <p:cNvSpPr txBox="1"/>
          <p:nvPr/>
        </p:nvSpPr>
        <p:spPr>
          <a:xfrm>
            <a:off x="1920240" y="3986784"/>
            <a:ext cx="9235440" cy="685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Service data structurally can't see students who never sought help — invest in CCWS and targeted needs assessment as the primary need indicator, not utilization.</a:t>
            </a:r>
            <a:endParaRPr lang="en-US" sz="1250" dirty="0"/>
          </a:p>
        </p:txBody>
      </p:sp>
      <p:sp>
        <p:nvSpPr>
          <p:cNvPr id="14" name="Shape 12"/>
          <p:cNvSpPr/>
          <p:nvPr/>
        </p:nvSpPr>
        <p:spPr>
          <a:xfrm>
            <a:off x="548640" y="5038344"/>
            <a:ext cx="10881360" cy="1417320"/>
          </a:xfrm>
          <a:prstGeom prst="roundRect">
            <a:avLst>
              <a:gd name="adj" fmla="val 5161"/>
            </a:avLst>
          </a:prstGeom>
          <a:solidFill>
            <a:srgbClr val="F3F7F6"/>
          </a:solidFill>
          <a:ln/>
        </p:spPr>
      </p:sp>
      <p:sp>
        <p:nvSpPr>
          <p:cNvPr id="15" name="Shape 13"/>
          <p:cNvSpPr/>
          <p:nvPr/>
        </p:nvSpPr>
        <p:spPr>
          <a:xfrm>
            <a:off x="868680" y="5381244"/>
            <a:ext cx="731520" cy="731520"/>
          </a:xfrm>
          <a:prstGeom prst="ellipse">
            <a:avLst/>
          </a:prstGeom>
          <a:solidFill>
            <a:srgbClr val="6FA98A"/>
          </a:solidFill>
          <a:ln/>
        </p:spPr>
      </p:sp>
      <p:sp>
        <p:nvSpPr>
          <p:cNvPr id="16" name="Text 14"/>
          <p:cNvSpPr txBox="1"/>
          <p:nvPr/>
        </p:nvSpPr>
        <p:spPr>
          <a:xfrm>
            <a:off x="868680" y="5381244"/>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920240" y="5221224"/>
            <a:ext cx="9235440" cy="411480"/>
          </a:xfrm>
          <a:prstGeom prst="rect">
            <a:avLst/>
          </a:prstGeom>
          <a:noFill/>
          <a:ln/>
        </p:spPr>
        <p:txBody>
          <a:bodyPr wrap="square" lIns="0" tIns="0" rIns="0" bIns="0" rtlCol="0" anchor="ctr"/>
          <a:lstStyle/>
          <a:p>
            <a:pPr indent="0" marL="0">
              <a:buNone/>
            </a:pPr>
            <a:r>
              <a:rPr lang="en-US" sz="1600" b="1" dirty="0">
                <a:solidFill>
                  <a:srgbClr val="24333D"/>
                </a:solidFill>
                <a:latin typeface="Cambria" pitchFamily="34" charset="0"/>
                <a:ea typeface="Cambria" pitchFamily="34" charset="-122"/>
                <a:cs typeface="Cambria" pitchFamily="34" charset="-120"/>
              </a:rPr>
              <a:t>Make evaluation a standing function, not a one-off</a:t>
            </a:r>
            <a:endParaRPr lang="en-US" sz="1600" dirty="0"/>
          </a:p>
        </p:txBody>
      </p:sp>
      <p:sp>
        <p:nvSpPr>
          <p:cNvPr id="18" name="Text 16"/>
          <p:cNvSpPr txBox="1"/>
          <p:nvPr/>
        </p:nvSpPr>
        <p:spPr>
          <a:xfrm>
            <a:off x="1920240" y="5660136"/>
            <a:ext cx="9235440" cy="6858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Build the monitoring rhythm into ongoing governance — tied to the annual Board report — so the next measurement change is handled proactively.</a:t>
            </a:r>
            <a:endParaRPr lang="en-US" sz="1250" dirty="0"/>
          </a:p>
        </p:txBody>
      </p:sp>
      <p:sp>
        <p:nvSpPr>
          <p:cNvPr id="19" name="Text 17"/>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300" b="1" spc="200" kern="0" dirty="0">
                <a:solidFill>
                  <a:srgbClr val="50808E"/>
                </a:solidFill>
                <a:latin typeface="Calibri" pitchFamily="34" charset="0"/>
                <a:ea typeface="Calibri" pitchFamily="34" charset="-122"/>
                <a:cs typeface="Calibri" pitchFamily="34" charset="-120"/>
              </a:rPr>
              <a:t>05 — RELEVANT EXPERIENCE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24333D"/>
                </a:solidFill>
                <a:latin typeface="Cambria" pitchFamily="34" charset="0"/>
                <a:ea typeface="Cambria" pitchFamily="34" charset="-122"/>
                <a:cs typeface="Cambria" pitchFamily="34" charset="-120"/>
              </a:rPr>
              <a:t>I've done versions of exactly this</a:t>
            </a:r>
            <a:endParaRPr lang="en-US" sz="3000" dirty="0"/>
          </a:p>
        </p:txBody>
      </p:sp>
      <p:sp>
        <p:nvSpPr>
          <p:cNvPr id="4" name="Shape 2"/>
          <p:cNvSpPr/>
          <p:nvPr/>
        </p:nvSpPr>
        <p:spPr>
          <a:xfrm>
            <a:off x="548640" y="1737360"/>
            <a:ext cx="3520440" cy="3749040"/>
          </a:xfrm>
          <a:prstGeom prst="roundRect">
            <a:avLst>
              <a:gd name="adj" fmla="val 2078"/>
            </a:avLst>
          </a:prstGeom>
          <a:solidFill>
            <a:srgbClr val="F3F7F6"/>
          </a:solidFill>
          <a:ln/>
        </p:spPr>
      </p:sp>
      <p:sp>
        <p:nvSpPr>
          <p:cNvPr id="5" name="Shape 3"/>
          <p:cNvSpPr/>
          <p:nvPr/>
        </p:nvSpPr>
        <p:spPr>
          <a:xfrm>
            <a:off x="548640" y="1737360"/>
            <a:ext cx="3520440" cy="594360"/>
          </a:xfrm>
          <a:prstGeom prst="rect">
            <a:avLst/>
          </a:prstGeom>
          <a:solidFill>
            <a:srgbClr val="24333D"/>
          </a:solidFill>
          <a:ln/>
        </p:spPr>
      </p:sp>
      <p:sp>
        <p:nvSpPr>
          <p:cNvPr id="6" name="Text 4"/>
          <p:cNvSpPr txBox="1"/>
          <p:nvPr/>
        </p:nvSpPr>
        <p:spPr>
          <a:xfrm>
            <a:off x="731520" y="1737360"/>
            <a:ext cx="3154680" cy="5943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WHO — Malawi</a:t>
            </a:r>
            <a:endParaRPr lang="en-US" sz="1400" dirty="0"/>
          </a:p>
        </p:txBody>
      </p:sp>
      <p:sp>
        <p:nvSpPr>
          <p:cNvPr id="7" name="Text 5"/>
          <p:cNvSpPr txBox="1"/>
          <p:nvPr/>
        </p:nvSpPr>
        <p:spPr>
          <a:xfrm>
            <a:off x="777240" y="2514600"/>
            <a:ext cx="3063240" cy="274320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A single national MDA coverage number hid real geographic variation. I built a reproducible R/ArcGIS pipeline and dashboard to separate signal from noise and target follow-up — the same move as separating need, demand, and utilization here.</a:t>
            </a:r>
            <a:endParaRPr lang="en-US" sz="1200" dirty="0"/>
          </a:p>
        </p:txBody>
      </p:sp>
      <p:sp>
        <p:nvSpPr>
          <p:cNvPr id="8" name="Shape 6"/>
          <p:cNvSpPr/>
          <p:nvPr/>
        </p:nvSpPr>
        <p:spPr>
          <a:xfrm>
            <a:off x="4325112" y="1737360"/>
            <a:ext cx="3520440" cy="3749040"/>
          </a:xfrm>
          <a:prstGeom prst="roundRect">
            <a:avLst>
              <a:gd name="adj" fmla="val 2078"/>
            </a:avLst>
          </a:prstGeom>
          <a:solidFill>
            <a:srgbClr val="F3F7F6"/>
          </a:solidFill>
          <a:ln/>
        </p:spPr>
      </p:sp>
      <p:sp>
        <p:nvSpPr>
          <p:cNvPr id="9" name="Shape 7"/>
          <p:cNvSpPr/>
          <p:nvPr/>
        </p:nvSpPr>
        <p:spPr>
          <a:xfrm>
            <a:off x="4325112" y="1737360"/>
            <a:ext cx="3520440" cy="594360"/>
          </a:xfrm>
          <a:prstGeom prst="rect">
            <a:avLst/>
          </a:prstGeom>
          <a:solidFill>
            <a:srgbClr val="24333D"/>
          </a:solidFill>
          <a:ln/>
        </p:spPr>
      </p:sp>
      <p:sp>
        <p:nvSpPr>
          <p:cNvPr id="10" name="Text 8"/>
          <p:cNvSpPr txBox="1"/>
          <p:nvPr/>
        </p:nvSpPr>
        <p:spPr>
          <a:xfrm>
            <a:off x="4507992" y="1737360"/>
            <a:ext cx="3154680" cy="5943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CAREX Canada</a:t>
            </a:r>
            <a:endParaRPr lang="en-US" sz="1400" dirty="0"/>
          </a:p>
        </p:txBody>
      </p:sp>
      <p:sp>
        <p:nvSpPr>
          <p:cNvPr id="11" name="Text 9"/>
          <p:cNvSpPr txBox="1"/>
          <p:nvPr/>
        </p:nvSpPr>
        <p:spPr>
          <a:xfrm>
            <a:off x="4553712" y="2514600"/>
            <a:ext cx="3063240" cy="274320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Mid-analysis, I caught a miscoded variable producing biologically implausible results across a large linked dataset — traced it to source, corrected it, and built a validation check into the pipeline before results were finalized.</a:t>
            </a:r>
            <a:endParaRPr lang="en-US" sz="1200" dirty="0"/>
          </a:p>
        </p:txBody>
      </p:sp>
      <p:sp>
        <p:nvSpPr>
          <p:cNvPr id="12" name="Shape 10"/>
          <p:cNvSpPr/>
          <p:nvPr/>
        </p:nvSpPr>
        <p:spPr>
          <a:xfrm>
            <a:off x="8101584" y="1737360"/>
            <a:ext cx="3520440" cy="3749040"/>
          </a:xfrm>
          <a:prstGeom prst="roundRect">
            <a:avLst>
              <a:gd name="adj" fmla="val 2078"/>
            </a:avLst>
          </a:prstGeom>
          <a:solidFill>
            <a:srgbClr val="F3F7F6"/>
          </a:solidFill>
          <a:ln/>
        </p:spPr>
      </p:sp>
      <p:sp>
        <p:nvSpPr>
          <p:cNvPr id="13" name="Shape 11"/>
          <p:cNvSpPr/>
          <p:nvPr/>
        </p:nvSpPr>
        <p:spPr>
          <a:xfrm>
            <a:off x="8101584" y="1737360"/>
            <a:ext cx="3520440" cy="594360"/>
          </a:xfrm>
          <a:prstGeom prst="rect">
            <a:avLst/>
          </a:prstGeom>
          <a:solidFill>
            <a:srgbClr val="24333D"/>
          </a:solidFill>
          <a:ln/>
        </p:spPr>
      </p:sp>
      <p:sp>
        <p:nvSpPr>
          <p:cNvPr id="14" name="Text 12"/>
          <p:cNvSpPr txBox="1"/>
          <p:nvPr/>
        </p:nvSpPr>
        <p:spPr>
          <a:xfrm>
            <a:off x="8284464" y="1737360"/>
            <a:ext cx="3154680" cy="5943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FNHA</a:t>
            </a:r>
            <a:endParaRPr lang="en-US" sz="1400" dirty="0"/>
          </a:p>
        </p:txBody>
      </p:sp>
      <p:sp>
        <p:nvSpPr>
          <p:cNvPr id="15" name="Text 13"/>
          <p:cNvSpPr txBox="1"/>
          <p:nvPr/>
        </p:nvSpPr>
        <p:spPr>
          <a:xfrm>
            <a:off x="8330184" y="2514600"/>
            <a:ext cx="3063240" cy="274320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Led a large-scale Regional Health Survey with OCAP-governed data management — direct experience building rigorous governance for sensitive population-level survey data, the same discipline this assignment calls for.</a:t>
            </a:r>
            <a:endParaRPr lang="en-US" sz="1200" dirty="0"/>
          </a:p>
        </p:txBody>
      </p:sp>
      <p:sp>
        <p:nvSpPr>
          <p:cNvPr id="16" name="Text 14"/>
          <p:cNvSpPr txBox="1"/>
          <p:nvPr/>
        </p:nvSpPr>
        <p:spPr>
          <a:xfrm>
            <a:off x="11521440" y="6446520"/>
            <a:ext cx="457200" cy="32004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333D"/>
        </a:solidFill>
      </p:bgPr>
    </p:bg>
    <p:spTree>
      <p:nvGrpSpPr>
        <p:cNvPr id="1" name=""/>
        <p:cNvGrpSpPr/>
        <p:nvPr/>
      </p:nvGrpSpPr>
      <p:grpSpPr>
        <a:xfrm>
          <a:off x="0" y="0"/>
          <a:ext cx="0" cy="0"/>
          <a:chOff x="0" y="0"/>
          <a:chExt cx="0" cy="0"/>
        </a:xfrm>
      </p:grpSpPr>
      <p:sp>
        <p:nvSpPr>
          <p:cNvPr id="2" name="Shape 0"/>
          <p:cNvSpPr/>
          <p:nvPr/>
        </p:nvSpPr>
        <p:spPr>
          <a:xfrm>
            <a:off x="640080" y="640080"/>
            <a:ext cx="502920" cy="502920"/>
          </a:xfrm>
          <a:prstGeom prst="ellipse">
            <a:avLst/>
          </a:prstGeom>
          <a:solidFill>
            <a:srgbClr val="6FA98A"/>
          </a:solidFill>
          <a:ln/>
        </p:spPr>
      </p:sp>
      <p:sp>
        <p:nvSpPr>
          <p:cNvPr id="3" name="Text 1"/>
          <p:cNvSpPr txBox="1"/>
          <p:nvPr/>
        </p:nvSpPr>
        <p:spPr>
          <a:xfrm>
            <a:off x="640080" y="6400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4" name="Text 2"/>
          <p:cNvSpPr txBox="1"/>
          <p:nvPr/>
        </p:nvSpPr>
        <p:spPr>
          <a:xfrm>
            <a:off x="1371600" y="713232"/>
            <a:ext cx="5486400" cy="365760"/>
          </a:xfrm>
          <a:prstGeom prst="rect">
            <a:avLst/>
          </a:prstGeom>
          <a:noFill/>
          <a:ln/>
        </p:spPr>
        <p:txBody>
          <a:bodyPr wrap="square" lIns="0" tIns="0" rIns="0" bIns="0" rtlCol="0" anchor="ctr"/>
          <a:lstStyle/>
          <a:p>
            <a:pPr indent="0" marL="0">
              <a:buNone/>
            </a:pPr>
            <a:r>
              <a:rPr lang="en-US" sz="1300" b="1" spc="200" kern="0" dirty="0">
                <a:solidFill>
                  <a:srgbClr val="6FA98A"/>
                </a:solidFill>
                <a:latin typeface="Calibri" pitchFamily="34" charset="0"/>
                <a:ea typeface="Calibri" pitchFamily="34" charset="-122"/>
                <a:cs typeface="Calibri" pitchFamily="34" charset="-120"/>
              </a:rPr>
              <a:t>CLOSING</a:t>
            </a:r>
            <a:endParaRPr lang="en-US" sz="1300" dirty="0"/>
          </a:p>
        </p:txBody>
      </p:sp>
      <p:sp>
        <p:nvSpPr>
          <p:cNvPr id="5" name="Text 3"/>
          <p:cNvSpPr txBox="1"/>
          <p:nvPr/>
        </p:nvSpPr>
        <p:spPr>
          <a:xfrm>
            <a:off x="640080" y="1920240"/>
            <a:ext cx="10515600" cy="192024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These datasets aren’t in conflict.</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They’re three instruments pointed at</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one problem from different angles.</a:t>
            </a:r>
            <a:endParaRPr lang="en-US" sz="3000" dirty="0"/>
          </a:p>
        </p:txBody>
      </p:sp>
      <p:sp>
        <p:nvSpPr>
          <p:cNvPr id="6" name="Text 4"/>
          <p:cNvSpPr txBox="1"/>
          <p:nvPr/>
        </p:nvSpPr>
        <p:spPr>
          <a:xfrm>
            <a:off x="640080" y="3977640"/>
            <a:ext cx="9784080" cy="822960"/>
          </a:xfrm>
          <a:prstGeom prst="rect">
            <a:avLst/>
          </a:prstGeom>
          <a:noFill/>
          <a:ln/>
        </p:spPr>
        <p:txBody>
          <a:bodyPr wrap="square" lIns="0" tIns="0" rIns="0" bIns="0" rtlCol="0" anchor="ctr"/>
          <a:lstStyle/>
          <a:p>
            <a:pPr indent="0" marL="0">
              <a:buNone/>
            </a:pPr>
            <a:r>
              <a:rPr lang="en-US" sz="1500" i="1" dirty="0">
                <a:solidFill>
                  <a:srgbClr val="C9DAD3"/>
                </a:solidFill>
                <a:latin typeface="Calibri" pitchFamily="34" charset="0"/>
                <a:ea typeface="Calibri" pitchFamily="34" charset="-122"/>
                <a:cs typeface="Calibri" pitchFamily="34" charset="-120"/>
              </a:rPr>
              <a:t>My job as Evaluation Lead would be to make that explicit, govern the integration responsibly, and give leadership actions they can take now — without waiting for perfect data.</a:t>
            </a:r>
            <a:endParaRPr lang="en-US" sz="1500" dirty="0"/>
          </a:p>
        </p:txBody>
      </p:sp>
      <p:sp>
        <p:nvSpPr>
          <p:cNvPr id="7" name="Shape 5"/>
          <p:cNvSpPr/>
          <p:nvPr/>
        </p:nvSpPr>
        <p:spPr>
          <a:xfrm>
            <a:off x="640080" y="5074920"/>
            <a:ext cx="3657600" cy="0"/>
          </a:xfrm>
          <a:prstGeom prst="line">
            <a:avLst/>
          </a:prstGeom>
          <a:noFill/>
          <a:ln w="19050">
            <a:solidFill>
              <a:srgbClr val="6FA98A"/>
            </a:solidFill>
            <a:prstDash val="solid"/>
          </a:ln>
        </p:spPr>
      </p:sp>
      <p:sp>
        <p:nvSpPr>
          <p:cNvPr id="8" name="Text 6"/>
          <p:cNvSpPr txBox="1"/>
          <p:nvPr/>
        </p:nvSpPr>
        <p:spPr>
          <a:xfrm>
            <a:off x="640080" y="5257800"/>
            <a:ext cx="10058400" cy="100584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“I can do the analysis — but I also understand what analysis is needed, how to evaluate programs rigorously, how to protect sensitive data, and how to translate evidence into decisions that improve student services.”</a:t>
            </a:r>
            <a:endParaRPr lang="en-US" sz="1350" dirty="0"/>
          </a:p>
        </p:txBody>
      </p:sp>
      <p:sp>
        <p:nvSpPr>
          <p:cNvPr id="9" name="Text 7"/>
          <p:cNvSpPr txBox="1"/>
          <p:nvPr/>
        </p:nvSpPr>
        <p:spPr>
          <a:xfrm>
            <a:off x="640080" y="6355080"/>
            <a:ext cx="7315200" cy="365760"/>
          </a:xfrm>
          <a:prstGeom prst="rect">
            <a:avLst/>
          </a:prstGeom>
          <a:noFill/>
          <a:ln/>
        </p:spPr>
        <p:txBody>
          <a:bodyPr wrap="square" lIns="0" tIns="0" rIns="0" bIns="0" rtlCol="0" anchor="ctr"/>
          <a:lstStyle/>
          <a:p>
            <a:pPr indent="0" marL="0">
              <a:buNone/>
            </a:pPr>
            <a:r>
              <a:rPr lang="en-US" sz="1200" dirty="0">
                <a:solidFill>
                  <a:srgbClr val="8FA6A0"/>
                </a:solidFill>
                <a:latin typeface="Calibri" pitchFamily="34" charset="0"/>
                <a:ea typeface="Calibri" pitchFamily="34" charset="-122"/>
                <a:cs typeface="Calibri" pitchFamily="34" charset="-120"/>
              </a:rPr>
              <a:t>Thank you. I welcome your 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Student Mental Health Demand — Guelph Assignment</dc:title>
  <dc:subject>PptxGenJS Presentation</dc:subject>
  <dc:creator>Disann Katende</dc:creator>
  <cp:lastModifiedBy>Disann Katende</cp:lastModifiedBy>
  <cp:revision>1</cp:revision>
  <dcterms:created xsi:type="dcterms:W3CDTF">2026-09-17T23:29:01Z</dcterms:created>
  <dcterms:modified xsi:type="dcterms:W3CDTF">2026-09-17T23:29:01Z</dcterms:modified>
</cp:coreProperties>
</file>
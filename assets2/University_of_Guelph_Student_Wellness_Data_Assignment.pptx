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28016" cy="443484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78992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E0A94A"/>
                </a:solidFill>
                <a:latin typeface="Aptos"/>
              </a:rPr>
              <a:t>CANDIDATE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9875520" cy="1325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Turning mixed wellbeing data
into better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54680"/>
            <a:ext cx="896112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900" b="0">
                <a:solidFill>
                  <a:srgbClr val="DAE5E4"/>
                </a:solidFill>
                <a:latin typeface="Aptos"/>
              </a:rPr>
              <a:t>An Evaluation Lead and Data Analyst approach to student mental health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66360"/>
            <a:ext cx="73152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BED1D3"/>
                </a:solidFill>
                <a:latin typeface="Aptos"/>
              </a:rPr>
              <a:t>Disann Katende  |  University of Guelph interview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1">
                <a:solidFill>
                  <a:srgbClr val="E0A94A"/>
                </a:solidFill>
                <a:latin typeface="Aptos"/>
              </a:rPr>
              <a:t>10-12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EXECUTIVE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THE DECISION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The data may disagree without being contradictory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My first task would be to separate signal, explanation, and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429000" cy="260604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82296" cy="260604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What the evidence can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3017520" cy="1856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There is likely meaningful and changing demand for mental health support, with possible differences in reach, access, and experience across student groups.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429000" cy="2606040"/>
          </a:xfrm>
          <a:prstGeom prst="roundRect">
            <a:avLst/>
          </a:prstGeom>
          <a:solidFill>
            <a:srgbClr val="FBE7E1"/>
          </a:solidFill>
          <a:ln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82296" cy="2606040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What it cannot yet 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34640"/>
            <a:ext cx="3017520" cy="1856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The current evidence does not automatically establish the full level of unmet need, the cause of change, or whether services produced the observed outcomes.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40280"/>
            <a:ext cx="34290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240280"/>
            <a:ext cx="82296" cy="2606040"/>
          </a:xfrm>
          <a:prstGeom prst="rect">
            <a:avLst/>
          </a:prstGeom>
          <a:solidFill>
            <a:srgbClr val="E0A94A"/>
          </a:solidFill>
          <a:ln>
            <a:solidFill>
              <a:srgbClr val="E0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What leadership 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34640"/>
            <a:ext cx="3017520" cy="1856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A shared measurement system, a defensible baseline, and a practical improvement cycle that links evidence to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900" b="1">
                <a:solidFill>
                  <a:srgbClr val="182D3D"/>
                </a:solidFill>
                <a:latin typeface="Aptos"/>
              </a:rPr>
              <a:t>Core principle: demand is not the same thing as need, utilization, access, or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1 /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FRAME THE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Start with five different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A common language prevents false conclusions.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2103120" cy="146304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82D3D"/>
                </a:solidFill>
                <a:latin typeface="Aptos"/>
              </a:rPr>
              <a:t>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737360" cy="9601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300" b="0">
                <a:solidFill>
                  <a:srgbClr val="263037"/>
                </a:solidFill>
                <a:latin typeface="Aptos"/>
              </a:rPr>
              <a:t>How many students experience a problem or require support?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9232" y="233172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9232" y="2331720"/>
            <a:ext cx="2103120" cy="146304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3824" y="265176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82D3D"/>
                </a:solidFill>
                <a:latin typeface="Aptos"/>
              </a:rPr>
              <a:t>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154680"/>
            <a:ext cx="1737360" cy="9601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300" b="0">
                <a:solidFill>
                  <a:srgbClr val="263037"/>
                </a:solidFill>
                <a:latin typeface="Aptos"/>
              </a:rPr>
              <a:t>Who seeks, requests, or is referred for support?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233172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4" y="2331720"/>
            <a:ext cx="2103120" cy="146304"/>
          </a:xfrm>
          <a:prstGeom prst="rect">
            <a:avLst/>
          </a:prstGeom>
          <a:solidFill>
            <a:srgbClr val="E0A94A"/>
          </a:solidFill>
          <a:ln>
            <a:solidFill>
              <a:srgbClr val="E0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6" y="265176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82D3D"/>
                </a:solidFill>
                <a:latin typeface="Aptos"/>
              </a:rPr>
              <a:t>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154680"/>
            <a:ext cx="1737360" cy="9601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300" b="0">
                <a:solidFill>
                  <a:srgbClr val="263037"/>
                </a:solidFill>
                <a:latin typeface="Aptos"/>
              </a:rPr>
              <a:t>Who reaches the right service, at the right time?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34656" y="233172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34656" y="2331720"/>
            <a:ext cx="2103120" cy="146304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265176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82D3D"/>
                </a:solidFill>
                <a:latin typeface="Aptos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3154680"/>
            <a:ext cx="1737360" cy="9601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300" b="0">
                <a:solidFill>
                  <a:srgbClr val="263037"/>
                </a:solidFill>
                <a:latin typeface="Aptos"/>
              </a:rPr>
              <a:t>Was the service acceptable, appropriate, and equitable?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2368" y="2331720"/>
            <a:ext cx="2103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02368" y="2331720"/>
            <a:ext cx="2103120" cy="146304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2651760"/>
            <a:ext cx="17373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82D3D"/>
                </a:solidFill>
                <a:latin typeface="Aptos"/>
              </a:rPr>
              <a:t>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3154680"/>
            <a:ext cx="1737360" cy="9601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1300" b="0">
                <a:solidFill>
                  <a:srgbClr val="263037"/>
                </a:solidFill>
                <a:latin typeface="Aptos"/>
              </a:rPr>
              <a:t>Did wellbeing, functioning, or risk change?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82D3D"/>
                </a:solidFill>
                <a:latin typeface="Aptos"/>
              </a:rPr>
              <a:t>The assignment is not simply to reconcile numbers. It is to define which decision each measure is fit to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1 /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EVIDENCE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Use each dataset for the question it can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I would begin with an evidence inventory before attempting to merge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429000" cy="306324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82296" cy="306324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Campus Wellbeing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3017520" cy="23134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263037"/>
                </a:solidFill>
                <a:latin typeface="Aptos"/>
              </a:rPr>
              <a:t>Population-level self-reported wellbeing, perceived need, barriers, and help-seeking.
Watch for response bias, wording effects, and the difference between distress and service need.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82296" cy="3063240"/>
          </a:xfrm>
          <a:prstGeom prst="rect">
            <a:avLst/>
          </a:prstGeom>
          <a:solidFill>
            <a:srgbClr val="E0A94A"/>
          </a:solidFill>
          <a:ln>
            <a:solidFill>
              <a:srgbClr val="E0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Student satisfaction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3017520" cy="23134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263037"/>
                </a:solidFill>
                <a:latin typeface="Aptos"/>
              </a:rPr>
              <a:t>Institutional experience, perceived support, and possible barriers.
Useful for context and voice, but satisfaction alone is not an outcome measure.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429000" cy="3063240"/>
          </a:xfrm>
          <a:prstGeom prst="roundRect">
            <a:avLst/>
          </a:prstGeom>
          <a:solidFill>
            <a:srgbClr val="FBE7E1"/>
          </a:solidFill>
          <a:ln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82296" cy="3063240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2402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Student Wellness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017520" cy="23134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263037"/>
                </a:solidFill>
                <a:latin typeface="Aptos"/>
              </a:rPr>
              <a:t>Requests, referrals, visits, wait times, capacity, pathways, and service outcomes.
Strong for service operations; incomplete for students who never reach care.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500" b="1">
                <a:solidFill>
                  <a:srgbClr val="5D6C72"/>
                </a:solidFill>
                <a:latin typeface="Aptos"/>
              </a:rPr>
              <a:t>Compare: population  |  construct  |  denominator  |  collection period  |  missingness  |  reporting purpose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2 /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INTEGRATE CAREFULLY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Create a trusted evidence layer before creating a bigger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Integration is a governance problem as much as a technical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514600" cy="320040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82296" cy="320040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1.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2103120" cy="2450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Metric dictionary
Population and denominator
Service taxonomy
Outcome definitions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5740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057400"/>
            <a:ext cx="82296" cy="3200400"/>
          </a:xfrm>
          <a:prstGeom prst="rect">
            <a:avLst/>
          </a:prstGeom>
          <a:solidFill>
            <a:srgbClr val="E0A94A"/>
          </a:solidFill>
          <a:ln>
            <a:solidFill>
              <a:srgbClr val="E0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402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2.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2103120" cy="2450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Join keys
Duplicates and cardinality
Date logic
Missingness and outliers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57400"/>
            <a:ext cx="2514600" cy="3200400"/>
          </a:xfrm>
          <a:prstGeom prst="roundRect">
            <a:avLst/>
          </a:prstGeom>
          <a:solidFill>
            <a:srgbClr val="FBE7E1"/>
          </a:solidFill>
          <a:ln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057400"/>
            <a:ext cx="82296" cy="3200400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2402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3. Protect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51760"/>
            <a:ext cx="2103120" cy="2450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Purpose limitation
Role-based access
Small-cell suppression
Retention and audit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05740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057400"/>
            <a:ext cx="82296" cy="320040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2402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4. Govern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651760"/>
            <a:ext cx="2103120" cy="2450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Named data owners
Change control
Reproducible code
Documented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2356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182D3D"/>
                </a:solidFill>
                <a:latin typeface="Aptos"/>
              </a:rPr>
              <a:t>I would not link identifiable student records simply because linkage is technically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3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BUILD THE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Move from activity counts to a measurable improvement pathway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A logic model makes the evaluation questions explicit.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057400" cy="137160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82D3D"/>
                </a:solidFill>
                <a:latin typeface="Aptos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71800"/>
            <a:ext cx="1764792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263037"/>
                </a:solidFill>
                <a:latin typeface="Aptos"/>
              </a:rPr>
              <a:t>People, funding, partnerships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1" y="2724912"/>
            <a:ext cx="347472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200" b="1">
                <a:solidFill>
                  <a:srgbClr val="DE674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33172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542032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82D3D"/>
                </a:solidFill>
                <a:latin typeface="Aptos"/>
              </a:rPr>
              <a:t>Activities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971800"/>
            <a:ext cx="1764792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263037"/>
                </a:solidFill>
                <a:latin typeface="Aptos"/>
              </a:rPr>
              <a:t>Counselling, triage, outreach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724912"/>
            <a:ext cx="347472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200" b="1">
                <a:solidFill>
                  <a:srgbClr val="DE674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331720"/>
            <a:ext cx="2057400" cy="137160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542032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82D3D"/>
                </a:solidFill>
                <a:latin typeface="Aptos"/>
              </a:rPr>
              <a:t>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971800"/>
            <a:ext cx="1764792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263037"/>
                </a:solidFill>
                <a:latin typeface="Aptos"/>
              </a:rPr>
              <a:t>Who uses and who is missed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724912"/>
            <a:ext cx="347472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200" b="1">
                <a:solidFill>
                  <a:srgbClr val="DE674F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33172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542032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82D3D"/>
                </a:solidFill>
                <a:latin typeface="Aptos"/>
              </a:rPr>
              <a:t>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3" y="2971800"/>
            <a:ext cx="1764792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263037"/>
                </a:solidFill>
                <a:latin typeface="Aptos"/>
              </a:rPr>
              <a:t>Timeliness, quality, equity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1" y="2724912"/>
            <a:ext cx="347472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200" b="1">
                <a:solidFill>
                  <a:srgbClr val="DE674F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331720"/>
            <a:ext cx="2057400" cy="137160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542032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82D3D"/>
                </a:solidFill>
                <a:latin typeface="Aptos"/>
              </a:rPr>
              <a:t>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2971800"/>
            <a:ext cx="1764792" cy="4572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263037"/>
                </a:solidFill>
                <a:latin typeface="Aptos"/>
              </a:rPr>
              <a:t>Wellbeing, functioning,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343400"/>
            <a:ext cx="9966960" cy="1325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Char char="•"/>
              <a:spcAft>
                <a:spcPts val="700"/>
              </a:spcAft>
              <a:defRPr sz="1700">
                <a:solidFill>
                  <a:srgbClr val="263037"/>
                </a:solidFill>
                <a:latin typeface="Aptos"/>
              </a:defRPr>
            </a:pPr>
            <a:r>
              <a:t>Process: Are services reaching students promptly and equitably?</a:t>
            </a:r>
          </a:p>
          <a:p>
            <a:pPr>
              <a:buChar char="•"/>
              <a:spcAft>
                <a:spcPts val="700"/>
              </a:spcAft>
              <a:defRPr sz="1700">
                <a:solidFill>
                  <a:srgbClr val="263037"/>
                </a:solidFill>
                <a:latin typeface="Aptos"/>
              </a:defRPr>
            </a:pPr>
            <a:r>
              <a:t>Outcome: Are students reporting or demonstrating improvement?</a:t>
            </a:r>
          </a:p>
          <a:p>
            <a:pPr>
              <a:buChar char="•"/>
              <a:spcAft>
                <a:spcPts val="700"/>
              </a:spcAft>
              <a:defRPr sz="1700">
                <a:solidFill>
                  <a:srgbClr val="263037"/>
                </a:solidFill>
                <a:latin typeface="Aptos"/>
              </a:defRPr>
            </a:pPr>
            <a:r>
              <a:t>Learning: Which changes improve access, quality, and outcomes?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3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MONITOR WHAT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A useful dashboard supports a decision, not just a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I would use a small set of stable indicators with context and documented limitations.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514600" cy="3063240"/>
          </a:xfrm>
          <a:prstGeom prst="roundRect">
            <a:avLst/>
          </a:prstGeom>
          <a:solidFill>
            <a:srgbClr val="FBE7E1"/>
          </a:solidFill>
          <a:ln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82296" cy="3063240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2103120" cy="23134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Requests
Referrals
Waitlist
Repeat 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57400"/>
            <a:ext cx="2514600" cy="306324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057400"/>
            <a:ext cx="82296" cy="306324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402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2103120" cy="23134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Time to first contact
Completion
No-shows
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57400"/>
            <a:ext cx="25146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057400"/>
            <a:ext cx="82296" cy="3063240"/>
          </a:xfrm>
          <a:prstGeom prst="rect">
            <a:avLst/>
          </a:prstGeom>
          <a:solidFill>
            <a:srgbClr val="E0A94A"/>
          </a:solidFill>
          <a:ln>
            <a:solidFill>
              <a:srgbClr val="E0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2402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Reach + equity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51760"/>
            <a:ext cx="2103120" cy="23134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Unique students
Group reach
Timelines
Unmet demand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057400"/>
            <a:ext cx="25146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057400"/>
            <a:ext cx="82296" cy="306324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24028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Quality +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651760"/>
            <a:ext cx="2103120" cy="23134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Experience
Validated measures
Functioning
Referral success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182D3D"/>
                </a:solidFill>
                <a:latin typeface="Aptos"/>
              </a:rPr>
              <a:t>Every KPI needs a definition, denominator, trend, owner, and interpretation note.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3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ANALYSIS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Match the method to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I would start with descriptive and qualitative work, then deepen the design where decisions warrant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6492240" cy="3383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Char char="•"/>
              <a:spcAft>
                <a:spcPts val="800"/>
              </a:spcAft>
              <a:defRPr sz="1600">
                <a:solidFill>
                  <a:srgbClr val="263037"/>
                </a:solidFill>
                <a:latin typeface="Aptos"/>
              </a:defRPr>
            </a:pPr>
            <a:r>
              <a:t>Describe trends by time, service, student group, pathway, and capacity.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63037"/>
                </a:solidFill>
                <a:latin typeface="Aptos"/>
              </a:defRPr>
            </a:pPr>
            <a:r>
              <a:t>Investigate a 30% utilization increase: validate the measure, denominator, coding, seasonality, access changes, and demand versus supply.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63037"/>
                </a:solidFill>
                <a:latin typeface="Aptos"/>
              </a:defRPr>
            </a:pPr>
            <a:r>
              <a:t>Use qualitative interviews or focus groups to explain barriers, unmet need, and unexpected patterns.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63037"/>
                </a:solidFill>
                <a:latin typeface="Aptos"/>
              </a:defRPr>
            </a:pPr>
            <a:r>
              <a:t>For interventions, consider pre/post analysis, interrupted time series, or a quasi-experimental comparison when assumptions are defensible.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63037"/>
                </a:solidFill>
                <a:latin typeface="Aptos"/>
              </a:defRPr>
            </a:pPr>
            <a:r>
              <a:t>Report uncertainty and practical significance, not only statistical significance.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103120"/>
            <a:ext cx="3337560" cy="3246120"/>
          </a:xfrm>
          <a:prstGeom prst="roundRect">
            <a:avLst/>
          </a:prstGeom>
          <a:solidFill>
            <a:srgbClr val="182D3D"/>
          </a:solidFill>
          <a:ln>
            <a:solidFill>
              <a:srgbClr val="18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E0A94A"/>
                </a:solidFill>
                <a:latin typeface="Aptos"/>
              </a:rPr>
              <a:t>Continuous improvement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971800"/>
            <a:ext cx="2240280" cy="192024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Measure
↓
Interpret
↓
Act
↓
Re-measure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4 / LEADERSHIP ADVICE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ACT IN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Make immediate decisions while building better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The institution does not need to wait for a perfect dataset to improve access and accountability.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29000" cy="3246120"/>
          </a:xfrm>
          <a:prstGeom prst="roundRect">
            <a:avLst/>
          </a:prstGeom>
          <a:solidFill>
            <a:srgbClr val="FBE7E1"/>
          </a:solidFill>
          <a:ln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82296" cy="3246120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3017520" cy="249631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Protect urgent capacity.
Validate headline metrics.
Identify access bottlenecks.
Clarify definitions and owners.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324612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82296" cy="324612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Next 3-6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3017520" cy="249631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Complete the data inventory.
Establish a baseline.
Add student voice and qualitative evidence.
Improve equity and missingness monitoring.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82296" cy="3246120"/>
          </a:xfrm>
          <a:prstGeom prst="rect">
            <a:avLst/>
          </a:prstGeom>
          <a:solidFill>
            <a:srgbClr val="E0A94A"/>
          </a:solidFill>
          <a:ln>
            <a:solidFill>
              <a:srgbClr val="E0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2402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Longer 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51760"/>
            <a:ext cx="3017520" cy="249631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Evaluate major changes.
Track outcomes, not volume alone.
Create recurring review cycles.
Use evidence to allocate resources.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4698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182D3D"/>
                </a:solidFill>
                <a:latin typeface="Aptos"/>
              </a:rPr>
              <a:t>Leadership decision: which populations, pathways, and outcomes require priority attention first?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1">
                <a:solidFill>
                  <a:srgbClr val="5D6C72"/>
                </a:solidFill>
                <a:latin typeface="Aptos"/>
              </a:rPr>
              <a:t>5 / RELEVANT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473952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5D6C72"/>
                </a:solidFill>
                <a:latin typeface="Aptos"/>
              </a:rPr>
              <a:t>UNIVERSITY OF GUELPH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DE674F"/>
                </a:solidFill>
                <a:latin typeface="Aptos"/>
              </a:rPr>
              <a:t>WHAT I WOULD BRING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789920" cy="7132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000" b="1">
                <a:solidFill>
                  <a:srgbClr val="182D3D"/>
                </a:solidFill>
                <a:latin typeface="Aptos Display"/>
              </a:rPr>
              <a:t>Technical rigour with an applied, equity-aware 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5D6C72"/>
                </a:solidFill>
                <a:latin typeface="Aptos"/>
              </a:rPr>
              <a:t>My experience has prepared me to work across imperfect data, sensitive information, and real program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9000" cy="3291840"/>
          </a:xfrm>
          <a:prstGeom prst="roundRect">
            <a:avLst/>
          </a:prstGeom>
          <a:solidFill>
            <a:srgbClr val="E0F1EF"/>
          </a:solidFill>
          <a:ln>
            <a:solidFill>
              <a:srgbClr val="E0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82296" cy="3291840"/>
          </a:xfrm>
          <a:prstGeom prst="rect">
            <a:avLst/>
          </a:prstGeom>
          <a:solidFill>
            <a:srgbClr val="007A80"/>
          </a:solidFill>
          <a:ln>
            <a:solidFill>
              <a:srgbClr val="00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Applied epidemiology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3017520" cy="2542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In the Malawi MDA work, I worked with program indicators, spatial and epidemiological analysis, dashboard outputs, and the limits of administrative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290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82296" cy="3291840"/>
          </a:xfrm>
          <a:prstGeom prst="rect">
            <a:avLst/>
          </a:prstGeom>
          <a:solidFill>
            <a:srgbClr val="E0A94A"/>
          </a:solidFill>
          <a:ln>
            <a:solidFill>
              <a:srgbClr val="E0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9456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Data and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3017520" cy="2542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I bring experience with R, SAS, SQL, data validation, sensitive health information, privacy principles, and communicating uncertainty.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429000" cy="3291840"/>
          </a:xfrm>
          <a:prstGeom prst="roundRect">
            <a:avLst/>
          </a:prstGeom>
          <a:solidFill>
            <a:srgbClr val="FBE7E1"/>
          </a:solidFill>
          <a:ln>
            <a:solidFill>
              <a:srgbClr val="FBE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82296" cy="3291840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19456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82D3D"/>
                </a:solidFill>
                <a:latin typeface="Aptos"/>
              </a:rPr>
              <a:t>Student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40"/>
            <a:ext cx="3017520" cy="2542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263037"/>
                </a:solidFill>
                <a:latin typeface="Aptos"/>
              </a:rPr>
              <a:t>My international-student and campus experiences inform my questions about access and equity, without assuming one person's experience represents all students.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4698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182D3D"/>
                </a:solidFill>
                <a:latin typeface="Aptos"/>
              </a:rPr>
              <a:t>The role I would aim to play: a trusted analytical partner who makes the next decision clearer.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E674F"/>
          </a:solidFill>
          <a:ln>
            <a:solidFill>
              <a:srgbClr val="DE6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E0A94A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24128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Better evidence is not the end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9875520" cy="9144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0">
                <a:solidFill>
                  <a:srgbClr val="DAE5E4"/>
                </a:solidFill>
                <a:latin typeface="Aptos"/>
              </a:rPr>
              <a:t>The goal is a Student Wellness system that can see need earlier, reduce avoidable barriers, and learn whether its actions are helping.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9875520" cy="7772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I would bring a disciplined approach to the evidence, humility about what the data cannot say, and a focus on decisions that improve student wellbeing.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E0A94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